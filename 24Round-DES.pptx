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70" r:id="rId5"/>
    <p:sldId id="285" r:id="rId6"/>
    <p:sldId id="273" r:id="rId7"/>
    <p:sldId id="274" r:id="rId8"/>
    <p:sldId id="286" r:id="rId9"/>
    <p:sldId id="287" r:id="rId10"/>
    <p:sldId id="288" r:id="rId11"/>
    <p:sldId id="289" r:id="rId12"/>
    <p:sldId id="277" r:id="rId13"/>
  </p:sldIdLst>
  <p:sldSz cx="18288000" cy="10287000"/>
  <p:notesSz cx="6858000" cy="9144000"/>
  <p:embeddedFontLst>
    <p:embeddedFont>
      <p:font typeface="Microsoft YaHei" panose="020B0503020204020204" charset="-122"/>
      <p:regular r:id="rId17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Comic Sans MS" panose="030F0702030302020204" charset="0"/>
      <p:regular r:id="rId23"/>
      <p:bold r:id="rId24"/>
      <p:italic r:id="rId25"/>
      <p:boldItalic r:id="rId26"/>
    </p:embeddedFont>
    <p:embeddedFont>
      <p:font typeface="Ebrima" panose="02000000000000000000" charset="0"/>
      <p:regular r:id="rId27"/>
      <p:bold r:id="rId28"/>
    </p:embeddedFont>
    <p:embeddedFont>
      <p:font typeface="Calibri" panose="020F0502020204030204" pitchFamily="34" charset="-122"/>
      <p:regular r:id="rId29"/>
      <p:bold r:id="rId30"/>
      <p:italic r:id="rId31"/>
      <p:boldItalic r:id="rId32"/>
    </p:embeddedFont>
    <p:embeddedFont>
      <p:font typeface="Calibri" panose="020F0502020204030204" pitchFamily="34" charset="-120"/>
      <p:regular r:id="rId33"/>
      <p:bold r:id="rId34"/>
      <p:italic r:id="rId35"/>
      <p:boldItalic r:id="rId36"/>
    </p:embeddedFont>
  </p:embeddedFontLst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D4A"/>
    <a:srgbClr val="3C3356"/>
    <a:srgbClr val="2B1554"/>
    <a:srgbClr val="7D60A0"/>
    <a:srgbClr val="10253F"/>
    <a:srgbClr val="FF7429"/>
    <a:srgbClr val="3A253C"/>
    <a:srgbClr val="482E4B"/>
    <a:srgbClr val="38AAAC"/>
    <a:srgbClr val="222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4"/>
        <p:guide pos="2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119.xml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9" Type="http://schemas.openxmlformats.org/officeDocument/2006/relationships/notesSlide" Target="../notesSlides/notesSlide2.xml"/><Relationship Id="rId48" Type="http://schemas.openxmlformats.org/officeDocument/2006/relationships/slideLayout" Target="../slideLayouts/slideLayout7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75.xml"/><Relationship Id="rId3" Type="http://schemas.openxmlformats.org/officeDocument/2006/relationships/tags" Target="../tags/tag48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image" Target="../media/image6.svg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tags" Target="../tags/tag1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2857500"/>
            <a:ext cx="15967710" cy="50444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11325"/>
              </a:lnSpc>
            </a:pP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D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A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T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A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 E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N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C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R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Y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P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T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I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O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N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 S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T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A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N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D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A</a:t>
            </a:r>
            <a:r>
              <a:rPr lang="en-US" sz="88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R</a:t>
            </a:r>
            <a:r>
              <a:rPr lang="en-US" sz="88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D</a:t>
            </a:r>
            <a:endParaRPr lang="en-US" sz="8800">
              <a:solidFill>
                <a:schemeClr val="accent5">
                  <a:lumMod val="75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Neo Tech Bold" panose="020B0804030504040204"/>
            </a:endParaRPr>
          </a:p>
        </p:txBody>
      </p:sp>
      <p:sp>
        <p:nvSpPr>
          <p:cNvPr id="3" name="Freeform 3"/>
          <p:cNvSpPr/>
          <p:nvPr/>
        </p:nvSpPr>
        <p:spPr>
          <a:xfrm rot="-10149532" flipH="1">
            <a:off x="-2530930" y="5039799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9211" flipH="1">
            <a:off x="14972210" y="-3031279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 Box 6"/>
          <p:cNvSpPr txBox="1"/>
          <p:nvPr/>
        </p:nvSpPr>
        <p:spPr>
          <a:xfrm>
            <a:off x="14097000" y="7124700"/>
            <a:ext cx="9144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Presented By:</a:t>
            </a:r>
            <a:endParaRPr lang="en-US" sz="3600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US" sz="36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Samreen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sz="36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Shoukat</a:t>
            </a:r>
            <a:endParaRPr lang="en-US" sz="3600" b="1" i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Haleema Abid</a:t>
            </a:r>
            <a:endParaRPr lang="en-US" sz="3600" b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6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Hamna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Saleem</a:t>
            </a:r>
            <a:endParaRPr lang="en-US" sz="3600" b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Jalisha Eman</a:t>
            </a:r>
            <a:endParaRPr lang="en-US" sz="3600" b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3850640" y="201930"/>
            <a:ext cx="12608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Generating  SubKeys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  <p:sp>
        <p:nvSpPr>
          <p:cNvPr id="38" name="平行四边形 21"/>
          <p:cNvSpPr/>
          <p:nvPr>
            <p:custDataLst>
              <p:tags r:id="rId1"/>
            </p:custDataLst>
          </p:nvPr>
        </p:nvSpPr>
        <p:spPr>
          <a:xfrm flipH="1">
            <a:off x="4939917" y="4415585"/>
            <a:ext cx="2180927" cy="1314298"/>
          </a:xfrm>
          <a:prstGeom prst="parallelogram">
            <a:avLst>
              <a:gd name="adj" fmla="val 81259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平行四边形 24"/>
          <p:cNvSpPr/>
          <p:nvPr>
            <p:custDataLst>
              <p:tags r:id="rId2"/>
            </p:custDataLst>
          </p:nvPr>
        </p:nvSpPr>
        <p:spPr>
          <a:xfrm flipH="1">
            <a:off x="7817337" y="4018956"/>
            <a:ext cx="2180927" cy="1314298"/>
          </a:xfrm>
          <a:prstGeom prst="parallelogram">
            <a:avLst>
              <a:gd name="adj" fmla="val 83583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平行四边形 22"/>
          <p:cNvSpPr/>
          <p:nvPr>
            <p:custDataLst>
              <p:tags r:id="rId3"/>
            </p:custDataLst>
          </p:nvPr>
        </p:nvSpPr>
        <p:spPr>
          <a:xfrm>
            <a:off x="6021342" y="4013639"/>
            <a:ext cx="2909320" cy="1718370"/>
          </a:xfrm>
          <a:prstGeom prst="parallelogram">
            <a:avLst>
              <a:gd name="adj" fmla="val 64618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2700" b="1" dirty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42" name="平行四边形 4"/>
          <p:cNvSpPr/>
          <p:nvPr>
            <p:custDataLst>
              <p:tags r:id="rId4"/>
            </p:custDataLst>
          </p:nvPr>
        </p:nvSpPr>
        <p:spPr>
          <a:xfrm flipH="1">
            <a:off x="2062498" y="4820720"/>
            <a:ext cx="2180927" cy="1314298"/>
          </a:xfrm>
          <a:prstGeom prst="parallelogram">
            <a:avLst>
              <a:gd name="adj" fmla="val 80061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平行四边形 3"/>
          <p:cNvSpPr/>
          <p:nvPr>
            <p:custDataLst>
              <p:tags r:id="rId5"/>
            </p:custDataLst>
          </p:nvPr>
        </p:nvSpPr>
        <p:spPr>
          <a:xfrm>
            <a:off x="240983" y="4820720"/>
            <a:ext cx="2909320" cy="1718370"/>
          </a:xfrm>
          <a:prstGeom prst="parallelogram">
            <a:avLst>
              <a:gd name="adj" fmla="val 64618"/>
            </a:avLst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 lnSpcReduction="20000"/>
          </a:bodyPr>
          <a:p>
            <a:pPr lvl="0" algn="ctr">
              <a:buClrTx/>
              <a:buSzTx/>
              <a:buFontTx/>
            </a:pPr>
            <a:endParaRPr lang="en-US" sz="2800" b="1" dirty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44" name="平行四边形 19"/>
          <p:cNvSpPr/>
          <p:nvPr>
            <p:custDataLst>
              <p:tags r:id="rId6"/>
            </p:custDataLst>
          </p:nvPr>
        </p:nvSpPr>
        <p:spPr>
          <a:xfrm>
            <a:off x="3129036" y="4418775"/>
            <a:ext cx="2909320" cy="1718370"/>
          </a:xfrm>
          <a:prstGeom prst="parallelogram">
            <a:avLst>
              <a:gd name="adj" fmla="val 64618"/>
            </a:avLst>
          </a:prstGeom>
          <a:solidFill>
            <a:srgbClr val="38A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 lnSpcReduction="20000"/>
          </a:bodyPr>
          <a:p>
            <a:pPr lvl="0" algn="ctr">
              <a:buClrTx/>
              <a:buSzTx/>
              <a:buFontTx/>
            </a:pPr>
            <a:endParaRPr lang="en-US" sz="2800" b="1" dirty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51" name="平行四边形 7"/>
          <p:cNvSpPr/>
          <p:nvPr>
            <p:custDataLst>
              <p:tags r:id="rId7"/>
            </p:custDataLst>
          </p:nvPr>
        </p:nvSpPr>
        <p:spPr>
          <a:xfrm flipH="1">
            <a:off x="10737290" y="3613820"/>
            <a:ext cx="2180927" cy="1314298"/>
          </a:xfrm>
          <a:prstGeom prst="parallelogram">
            <a:avLst>
              <a:gd name="adj" fmla="val 81259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平行四边形 8"/>
          <p:cNvSpPr/>
          <p:nvPr>
            <p:custDataLst>
              <p:tags r:id="rId8"/>
            </p:custDataLst>
          </p:nvPr>
        </p:nvSpPr>
        <p:spPr>
          <a:xfrm>
            <a:off x="8926408" y="3615947"/>
            <a:ext cx="2909320" cy="1718370"/>
          </a:xfrm>
          <a:prstGeom prst="parallelogram">
            <a:avLst>
              <a:gd name="adj" fmla="val 64618"/>
            </a:avLst>
          </a:prstGeom>
          <a:solidFill>
            <a:srgbClr val="38A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2700" b="1">
              <a:solidFill>
                <a:srgbClr val="FFFFFF"/>
              </a:solidFill>
              <a:sym typeface="+mn-lt"/>
            </a:endParaRPr>
          </a:p>
        </p:txBody>
      </p:sp>
      <p:cxnSp>
        <p:nvCxnSpPr>
          <p:cNvPr id="59" name="直接连接符 26"/>
          <p:cNvCxnSpPr/>
          <p:nvPr>
            <p:custDataLst>
              <p:tags r:id="rId9"/>
            </p:custDataLst>
          </p:nvPr>
        </p:nvCxnSpPr>
        <p:spPr>
          <a:xfrm>
            <a:off x="11777113" y="5123559"/>
            <a:ext cx="2208574" cy="0"/>
          </a:xfrm>
          <a:prstGeom prst="line">
            <a:avLst/>
          </a:prstGeom>
          <a:ln w="76200">
            <a:gradFill>
              <a:gsLst>
                <a:gs pos="0">
                  <a:schemeClr val="accent4">
                    <a:hueOff val="-4200000"/>
                  </a:schemeClr>
                </a:gs>
                <a:gs pos="100000">
                  <a:schemeClr val="accent4"/>
                </a:gs>
              </a:gsLst>
            </a:gradFill>
            <a:head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平行四边形 5"/>
          <p:cNvSpPr/>
          <p:nvPr>
            <p:custDataLst>
              <p:tags r:id="rId10"/>
            </p:custDataLst>
          </p:nvPr>
        </p:nvSpPr>
        <p:spPr>
          <a:xfrm flipH="1">
            <a:off x="13597696" y="3226762"/>
            <a:ext cx="2180927" cy="1314298"/>
          </a:xfrm>
          <a:prstGeom prst="parallelogram">
            <a:avLst>
              <a:gd name="adj" fmla="val 83583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平行四边形 6"/>
          <p:cNvSpPr/>
          <p:nvPr>
            <p:custDataLst>
              <p:tags r:id="rId11"/>
            </p:custDataLst>
          </p:nvPr>
        </p:nvSpPr>
        <p:spPr>
          <a:xfrm>
            <a:off x="11801701" y="3221445"/>
            <a:ext cx="2909320" cy="1718370"/>
          </a:xfrm>
          <a:prstGeom prst="parallelogram">
            <a:avLst>
              <a:gd name="adj" fmla="val 64618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 lnSpcReduction="20000"/>
          </a:bodyPr>
          <a:p>
            <a:pPr lvl="0" algn="ctr">
              <a:buClrTx/>
              <a:buSzTx/>
              <a:buFontTx/>
            </a:pPr>
            <a:endParaRPr lang="en-US" sz="2800" b="1">
              <a:solidFill>
                <a:srgbClr val="FFFFFF"/>
              </a:solidFill>
              <a:sym typeface="+mn-lt"/>
            </a:endParaRPr>
          </a:p>
        </p:txBody>
      </p:sp>
      <p:cxnSp>
        <p:nvCxnSpPr>
          <p:cNvPr id="64" name="直接连接符 14"/>
          <p:cNvCxnSpPr/>
          <p:nvPr>
            <p:custDataLst>
              <p:tags r:id="rId12"/>
            </p:custDataLst>
          </p:nvPr>
        </p:nvCxnSpPr>
        <p:spPr>
          <a:xfrm>
            <a:off x="14679121" y="4757681"/>
            <a:ext cx="2208574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head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任意多边形 27"/>
          <p:cNvSpPr/>
          <p:nvPr>
            <p:custDataLst>
              <p:tags r:id="rId13"/>
            </p:custDataLst>
          </p:nvPr>
        </p:nvSpPr>
        <p:spPr>
          <a:xfrm>
            <a:off x="14702514" y="1947554"/>
            <a:ext cx="3267668" cy="2593506"/>
          </a:xfrm>
          <a:custGeom>
            <a:avLst/>
            <a:gdLst>
              <a:gd name="connsiteX0" fmla="*/ 1215 w 4043"/>
              <a:gd name="connsiteY0" fmla="*/ 1402 h 4402"/>
              <a:gd name="connsiteX1" fmla="*/ 3330 w 4043"/>
              <a:gd name="connsiteY1" fmla="*/ 0 h 4402"/>
              <a:gd name="connsiteX2" fmla="*/ 4043 w 4043"/>
              <a:gd name="connsiteY2" fmla="*/ 1440 h 4402"/>
              <a:gd name="connsiteX3" fmla="*/ 3518 w 4043"/>
              <a:gd name="connsiteY3" fmla="*/ 1440 h 4402"/>
              <a:gd name="connsiteX4" fmla="*/ 1778 w 4043"/>
              <a:gd name="connsiteY4" fmla="*/ 4395 h 4402"/>
              <a:gd name="connsiteX5" fmla="*/ 0 w 4043"/>
              <a:gd name="connsiteY5" fmla="*/ 4402 h 4402"/>
              <a:gd name="connsiteX6" fmla="*/ 1718 w 4043"/>
              <a:gd name="connsiteY6" fmla="*/ 1417 h 4402"/>
              <a:gd name="connsiteX7" fmla="*/ 1215 w 4043"/>
              <a:gd name="connsiteY7" fmla="*/ 1402 h 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77" h="4002">
                <a:moveTo>
                  <a:pt x="3478" y="0"/>
                </a:moveTo>
                <a:lnTo>
                  <a:pt x="4277" y="1440"/>
                </a:lnTo>
                <a:lnTo>
                  <a:pt x="3688" y="1440"/>
                </a:lnTo>
                <a:lnTo>
                  <a:pt x="3417" y="1851"/>
                </a:lnTo>
                <a:lnTo>
                  <a:pt x="3408" y="1851"/>
                </a:lnTo>
                <a:lnTo>
                  <a:pt x="2018" y="4002"/>
                </a:lnTo>
                <a:lnTo>
                  <a:pt x="0" y="4002"/>
                </a:lnTo>
                <a:lnTo>
                  <a:pt x="1390" y="1851"/>
                </a:lnTo>
                <a:lnTo>
                  <a:pt x="1390" y="1851"/>
                </a:lnTo>
                <a:lnTo>
                  <a:pt x="1670" y="1417"/>
                </a:lnTo>
                <a:lnTo>
                  <a:pt x="1106" y="1402"/>
                </a:lnTo>
                <a:lnTo>
                  <a:pt x="3478" y="0"/>
                </a:lnTo>
                <a:close/>
              </a:path>
            </a:pathLst>
          </a:custGeom>
          <a:solidFill>
            <a:srgbClr val="38A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580390" tIns="789940" rIns="864235" bIns="297180" numCol="1" spcCol="0" rtlCol="0" fromWordArt="0" anchor="ctr" anchorCtr="0" forceAA="0" compatLnSpc="1">
            <a:normAutofit/>
          </a:bodyPr>
          <a:p>
            <a:pPr algn="ctr"/>
            <a:endParaRPr lang="en-US" sz="2800" b="1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8" name="Text Box 67"/>
          <p:cNvSpPr txBox="1"/>
          <p:nvPr/>
        </p:nvSpPr>
        <p:spPr>
          <a:xfrm>
            <a:off x="-218440" y="6819900"/>
            <a:ext cx="27317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rgbClr val="2B1554"/>
                </a:solidFill>
                <a:sym typeface="+mn-lt"/>
              </a:rPr>
              <a:t>Initial </a:t>
            </a:r>
            <a:endParaRPr lang="en-US" sz="3600" b="1" dirty="0">
              <a:solidFill>
                <a:srgbClr val="2B1554"/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rgbClr val="2B1554"/>
                </a:solidFill>
                <a:sym typeface="+mn-lt"/>
              </a:rPr>
              <a:t>64-Bit </a:t>
            </a:r>
            <a:endParaRPr lang="en-US" sz="3600" b="1" dirty="0">
              <a:solidFill>
                <a:srgbClr val="2B1554"/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rgbClr val="2B1554"/>
                </a:solidFill>
                <a:sym typeface="+mn-lt"/>
              </a:rPr>
              <a:t>Key</a:t>
            </a:r>
            <a:endParaRPr lang="en-US" sz="3600" b="1" dirty="0">
              <a:solidFill>
                <a:srgbClr val="2B1554"/>
              </a:solidFill>
              <a:sym typeface="+mn-lt"/>
            </a:endParaRPr>
          </a:p>
          <a:p>
            <a:endParaRPr lang="en-US" sz="3600" b="1" dirty="0">
              <a:solidFill>
                <a:srgbClr val="2B1554"/>
              </a:solidFill>
              <a:sym typeface="+mn-lt"/>
            </a:endParaRPr>
          </a:p>
        </p:txBody>
      </p:sp>
      <p:sp>
        <p:nvSpPr>
          <p:cNvPr id="69" name="Text Box 68"/>
          <p:cNvSpPr txBox="1"/>
          <p:nvPr/>
        </p:nvSpPr>
        <p:spPr>
          <a:xfrm>
            <a:off x="14401800" y="4838700"/>
            <a:ext cx="27317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>
                <a:solidFill>
                  <a:schemeClr val="accent5">
                    <a:lumMod val="50000"/>
                  </a:schemeClr>
                </a:solidFill>
                <a:sym typeface="Arial" panose="020B0604020202020204" pitchFamily="34" charset="0"/>
              </a:rPr>
              <a:t>16 SubKeys</a:t>
            </a:r>
            <a:endParaRPr lang="en-US" sz="3600" b="1">
              <a:solidFill>
                <a:schemeClr val="accent5">
                  <a:lumMod val="50000"/>
                </a:schemeClr>
              </a:solidFill>
              <a:sym typeface="Arial" panose="020B0604020202020204" pitchFamily="34" charset="0"/>
            </a:endParaRPr>
          </a:p>
          <a:p>
            <a:pPr algn="ctr"/>
            <a:r>
              <a:rPr lang="en-US" sz="3600" b="1">
                <a:solidFill>
                  <a:schemeClr val="accent5">
                    <a:lumMod val="50000"/>
                  </a:schemeClr>
                </a:solidFill>
                <a:sym typeface="Arial" panose="020B0604020202020204" pitchFamily="34" charset="0"/>
              </a:rPr>
              <a:t>Generated</a:t>
            </a:r>
            <a:endParaRPr lang="en-US" sz="3600" b="1" dirty="0">
              <a:solidFill>
                <a:schemeClr val="accent5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70" name="Text Box 69"/>
          <p:cNvSpPr txBox="1"/>
          <p:nvPr/>
        </p:nvSpPr>
        <p:spPr>
          <a:xfrm>
            <a:off x="5562600" y="5984875"/>
            <a:ext cx="27317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rgbClr val="2B1554"/>
                </a:solidFill>
                <a:sym typeface="+mn-lt"/>
              </a:rPr>
              <a:t>Split into </a:t>
            </a:r>
            <a:endParaRPr lang="en-US" sz="3600" b="1" dirty="0">
              <a:solidFill>
                <a:srgbClr val="2B1554"/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rgbClr val="2B1554"/>
                </a:solidFill>
                <a:sym typeface="+mn-lt"/>
              </a:rPr>
              <a:t>Halves</a:t>
            </a:r>
            <a:endParaRPr lang="en-US" sz="3600" b="1" dirty="0">
              <a:solidFill>
                <a:srgbClr val="2B1554"/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rgbClr val="2B1554"/>
                </a:solidFill>
                <a:sym typeface="+mn-lt"/>
              </a:rPr>
              <a:t>C</a:t>
            </a:r>
            <a:r>
              <a:rPr lang="en-US" sz="3600" b="1" baseline="-25000" dirty="0">
                <a:solidFill>
                  <a:srgbClr val="2B1554"/>
                </a:solidFill>
                <a:sym typeface="+mn-lt"/>
              </a:rPr>
              <a:t>0 </a:t>
            </a:r>
            <a:r>
              <a:rPr lang="en-US" sz="3600" b="1" dirty="0">
                <a:solidFill>
                  <a:srgbClr val="2B1554"/>
                </a:solidFill>
                <a:sym typeface="+mn-lt"/>
              </a:rPr>
              <a:t>&amp; D</a:t>
            </a:r>
            <a:r>
              <a:rPr lang="en-US" sz="3600" b="1" baseline="-25000" dirty="0">
                <a:solidFill>
                  <a:srgbClr val="2B1554"/>
                </a:solidFill>
                <a:sym typeface="+mn-lt"/>
              </a:rPr>
              <a:t>0</a:t>
            </a:r>
            <a:endParaRPr lang="en-US" sz="3600" b="1" dirty="0">
              <a:solidFill>
                <a:srgbClr val="2B1554"/>
              </a:solidFill>
              <a:sym typeface="+mn-lt"/>
            </a:endParaRPr>
          </a:p>
          <a:p>
            <a:endParaRPr lang="en-US" sz="3600" b="1" dirty="0">
              <a:solidFill>
                <a:srgbClr val="2B1554"/>
              </a:solidFill>
              <a:sym typeface="+mn-lt"/>
            </a:endParaRPr>
          </a:p>
        </p:txBody>
      </p:sp>
      <p:sp>
        <p:nvSpPr>
          <p:cNvPr id="71" name="Text Box 70"/>
          <p:cNvSpPr txBox="1"/>
          <p:nvPr/>
        </p:nvSpPr>
        <p:spPr>
          <a:xfrm>
            <a:off x="8382000" y="5676900"/>
            <a:ext cx="27317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3600" b="1">
                <a:solidFill>
                  <a:schemeClr val="accent5">
                    <a:lumMod val="50000"/>
                  </a:schemeClr>
                </a:solidFill>
                <a:sym typeface="+mn-lt"/>
              </a:rPr>
              <a:t>Left Shift</a:t>
            </a:r>
            <a:endParaRPr lang="en-US" sz="3600" b="1">
              <a:solidFill>
                <a:schemeClr val="accent5">
                  <a:lumMod val="50000"/>
                </a:schemeClr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>
                <a:solidFill>
                  <a:schemeClr val="accent5">
                    <a:lumMod val="50000"/>
                  </a:schemeClr>
                </a:solidFill>
                <a:sym typeface="+mn-lt"/>
              </a:rPr>
              <a:t>Each Round</a:t>
            </a:r>
            <a:endParaRPr lang="en-US" sz="3600" b="1">
              <a:solidFill>
                <a:schemeClr val="accent5">
                  <a:lumMod val="50000"/>
                </a:schemeClr>
              </a:solidFill>
              <a:sym typeface="+mn-lt"/>
            </a:endParaRPr>
          </a:p>
          <a:p>
            <a:endParaRPr lang="en-US" sz="3600" b="1" dirty="0">
              <a:solidFill>
                <a:schemeClr val="accent5">
                  <a:lumMod val="50000"/>
                </a:schemeClr>
              </a:solidFill>
              <a:sym typeface="+mn-lt"/>
            </a:endParaRPr>
          </a:p>
        </p:txBody>
      </p:sp>
      <p:sp>
        <p:nvSpPr>
          <p:cNvPr id="72" name="Text Box 71"/>
          <p:cNvSpPr txBox="1"/>
          <p:nvPr/>
        </p:nvSpPr>
        <p:spPr>
          <a:xfrm>
            <a:off x="11446510" y="5195570"/>
            <a:ext cx="27317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3600" b="1">
                <a:solidFill>
                  <a:srgbClr val="2B1554"/>
                </a:solidFill>
                <a:sym typeface="+mn-lt"/>
              </a:rPr>
              <a:t>PC-2</a:t>
            </a:r>
            <a:endParaRPr lang="en-US" sz="3600" b="1">
              <a:solidFill>
                <a:srgbClr val="2B1554"/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>
                <a:solidFill>
                  <a:srgbClr val="2B1554"/>
                </a:solidFill>
                <a:sym typeface="+mn-lt"/>
              </a:rPr>
              <a:t>Table</a:t>
            </a:r>
            <a:endParaRPr lang="en-US" sz="3600" b="1">
              <a:solidFill>
                <a:srgbClr val="2B1554"/>
              </a:solidFill>
              <a:sym typeface="+mn-lt"/>
            </a:endParaRPr>
          </a:p>
          <a:p>
            <a:endParaRPr lang="en-US" sz="3600" b="1" dirty="0">
              <a:solidFill>
                <a:srgbClr val="2B1554"/>
              </a:solidFill>
              <a:sym typeface="+mn-lt"/>
            </a:endParaRPr>
          </a:p>
        </p:txBody>
      </p:sp>
      <p:sp>
        <p:nvSpPr>
          <p:cNvPr id="73" name="Text Box 72"/>
          <p:cNvSpPr txBox="1"/>
          <p:nvPr/>
        </p:nvSpPr>
        <p:spPr>
          <a:xfrm>
            <a:off x="2565400" y="6413500"/>
            <a:ext cx="27317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rPr>
              <a:t>PC-1 </a:t>
            </a:r>
            <a:endParaRPr lang="en-US" sz="3600" b="1" dirty="0">
              <a:solidFill>
                <a:schemeClr val="accent5">
                  <a:lumMod val="50000"/>
                </a:schemeClr>
              </a:solidFill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rPr>
              <a:t>Table</a:t>
            </a:r>
            <a:endParaRPr lang="en-US" sz="3600" b="1" dirty="0">
              <a:solidFill>
                <a:schemeClr val="accent5">
                  <a:lumMod val="50000"/>
                </a:schemeClr>
              </a:solidFill>
              <a:sym typeface="+mn-lt"/>
            </a:endParaRPr>
          </a:p>
          <a:p>
            <a:endParaRPr lang="en-US" sz="3600" b="1" dirty="0">
              <a:solidFill>
                <a:schemeClr val="accent5">
                  <a:lumMod val="50000"/>
                </a:schemeClr>
              </a:solidFill>
              <a:sym typeface="+mn-lt"/>
            </a:endParaRPr>
          </a:p>
        </p:txBody>
      </p:sp>
      <p:cxnSp>
        <p:nvCxnSpPr>
          <p:cNvPr id="74" name="直接连接符 14"/>
          <p:cNvCxnSpPr/>
          <p:nvPr>
            <p:custDataLst>
              <p:tags r:id="rId14"/>
            </p:custDataLst>
          </p:nvPr>
        </p:nvCxnSpPr>
        <p:spPr>
          <a:xfrm>
            <a:off x="8610426" y="5524761"/>
            <a:ext cx="2208574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head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14"/>
          <p:cNvCxnSpPr/>
          <p:nvPr>
            <p:custDataLst>
              <p:tags r:id="rId15"/>
            </p:custDataLst>
          </p:nvPr>
        </p:nvCxnSpPr>
        <p:spPr>
          <a:xfrm>
            <a:off x="2819226" y="6351531"/>
            <a:ext cx="2208574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head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26"/>
          <p:cNvCxnSpPr/>
          <p:nvPr>
            <p:custDataLst>
              <p:tags r:id="rId16"/>
            </p:custDataLst>
          </p:nvPr>
        </p:nvCxnSpPr>
        <p:spPr>
          <a:xfrm>
            <a:off x="5867168" y="5905244"/>
            <a:ext cx="2208574" cy="0"/>
          </a:xfrm>
          <a:prstGeom prst="line">
            <a:avLst/>
          </a:prstGeom>
          <a:ln w="76200">
            <a:gradFill>
              <a:gsLst>
                <a:gs pos="0">
                  <a:schemeClr val="accent4">
                    <a:hueOff val="-4200000"/>
                  </a:schemeClr>
                </a:gs>
                <a:gs pos="100000">
                  <a:schemeClr val="accent4"/>
                </a:gs>
              </a:gsLst>
            </a:gradFill>
            <a:head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26"/>
          <p:cNvCxnSpPr/>
          <p:nvPr>
            <p:custDataLst>
              <p:tags r:id="rId17"/>
            </p:custDataLst>
          </p:nvPr>
        </p:nvCxnSpPr>
        <p:spPr>
          <a:xfrm>
            <a:off x="75968" y="6743444"/>
            <a:ext cx="2208574" cy="0"/>
          </a:xfrm>
          <a:prstGeom prst="line">
            <a:avLst/>
          </a:prstGeom>
          <a:ln w="76200">
            <a:gradFill>
              <a:gsLst>
                <a:gs pos="0">
                  <a:schemeClr val="accent4">
                    <a:hueOff val="-4200000"/>
                  </a:schemeClr>
                </a:gs>
                <a:gs pos="100000">
                  <a:schemeClr val="accent4"/>
                </a:gs>
              </a:gsLst>
            </a:gradFill>
            <a:head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矩形 3"/>
          <p:cNvSpPr/>
          <p:nvPr>
            <p:custDataLst>
              <p:tags r:id="rId18"/>
            </p:custDataLst>
          </p:nvPr>
        </p:nvSpPr>
        <p:spPr>
          <a:xfrm>
            <a:off x="7993698" y="14645958"/>
            <a:ext cx="2075815" cy="547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Click here to add text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9" name="矩形 4"/>
          <p:cNvSpPr/>
          <p:nvPr>
            <p:custDataLst>
              <p:tags r:id="rId19"/>
            </p:custDataLst>
          </p:nvPr>
        </p:nvSpPr>
        <p:spPr>
          <a:xfrm>
            <a:off x="11263313" y="14645958"/>
            <a:ext cx="2075815" cy="547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Click here to add text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0" name="矩形 6"/>
          <p:cNvSpPr/>
          <p:nvPr>
            <p:custDataLst>
              <p:tags r:id="rId20"/>
            </p:custDataLst>
          </p:nvPr>
        </p:nvSpPr>
        <p:spPr>
          <a:xfrm>
            <a:off x="9617393" y="13156883"/>
            <a:ext cx="2045335" cy="547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Click here to add text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1" name="矩形 7"/>
          <p:cNvSpPr/>
          <p:nvPr>
            <p:custDataLst>
              <p:tags r:id="rId21"/>
            </p:custDataLst>
          </p:nvPr>
        </p:nvSpPr>
        <p:spPr>
          <a:xfrm>
            <a:off x="6299518" y="13156883"/>
            <a:ext cx="2073910" cy="547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Click here to add text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2" name="矩形 8"/>
          <p:cNvSpPr/>
          <p:nvPr>
            <p:custDataLst>
              <p:tags r:id="rId22"/>
            </p:custDataLst>
          </p:nvPr>
        </p:nvSpPr>
        <p:spPr>
          <a:xfrm>
            <a:off x="8035608" y="11095038"/>
            <a:ext cx="2035810" cy="547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Click here to add text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3" name="矩形 11"/>
          <p:cNvSpPr/>
          <p:nvPr>
            <p:custDataLst>
              <p:tags r:id="rId23"/>
            </p:custDataLst>
          </p:nvPr>
        </p:nvSpPr>
        <p:spPr>
          <a:xfrm>
            <a:off x="4583748" y="11111548"/>
            <a:ext cx="2035810" cy="547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Click here to add text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4" name="矩形 14"/>
          <p:cNvSpPr/>
          <p:nvPr>
            <p:custDataLst>
              <p:tags r:id="rId24"/>
            </p:custDataLst>
          </p:nvPr>
        </p:nvSpPr>
        <p:spPr>
          <a:xfrm>
            <a:off x="7993698" y="14146213"/>
            <a:ext cx="2075815" cy="4076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15" name="矩形 17"/>
          <p:cNvSpPr/>
          <p:nvPr>
            <p:custDataLst>
              <p:tags r:id="rId25"/>
            </p:custDataLst>
          </p:nvPr>
        </p:nvSpPr>
        <p:spPr>
          <a:xfrm>
            <a:off x="11263313" y="14146213"/>
            <a:ext cx="2075815" cy="4076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tx1"/>
                </a:solidFill>
                <a:latin typeface="+mj-lt"/>
                <a:sym typeface="+mn-ea"/>
              </a:rPr>
              <a:t>Title</a:t>
            </a:r>
            <a:endParaRPr lang="en-US" b="1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16" name="矩形 18"/>
          <p:cNvSpPr/>
          <p:nvPr>
            <p:custDataLst>
              <p:tags r:id="rId26"/>
            </p:custDataLst>
          </p:nvPr>
        </p:nvSpPr>
        <p:spPr>
          <a:xfrm>
            <a:off x="9727883" y="11992293"/>
            <a:ext cx="1824354" cy="5308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17" name="矩形 23"/>
          <p:cNvSpPr/>
          <p:nvPr>
            <p:custDataLst>
              <p:tags r:id="rId27"/>
            </p:custDataLst>
          </p:nvPr>
        </p:nvSpPr>
        <p:spPr>
          <a:xfrm>
            <a:off x="6423978" y="11993563"/>
            <a:ext cx="1824355" cy="5308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18" name="矩形 24"/>
          <p:cNvSpPr/>
          <p:nvPr>
            <p:custDataLst>
              <p:tags r:id="rId28"/>
            </p:custDataLst>
          </p:nvPr>
        </p:nvSpPr>
        <p:spPr>
          <a:xfrm>
            <a:off x="4583748" y="10670223"/>
            <a:ext cx="2035810" cy="41211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19" name="任意多边形 20"/>
          <p:cNvSpPr/>
          <p:nvPr>
            <p:custDataLst>
              <p:tags r:id="rId29"/>
            </p:custDataLst>
          </p:nvPr>
        </p:nvSpPr>
        <p:spPr>
          <a:xfrm rot="10800000">
            <a:off x="5929948" y="12768263"/>
            <a:ext cx="3146425" cy="119189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55" h="1877">
                <a:moveTo>
                  <a:pt x="513" y="0"/>
                </a:moveTo>
                <a:lnTo>
                  <a:pt x="4017" y="0"/>
                </a:lnTo>
                <a:cubicBezTo>
                  <a:pt x="4535" y="0"/>
                  <a:pt x="4955" y="420"/>
                  <a:pt x="4955" y="939"/>
                </a:cubicBezTo>
                <a:cubicBezTo>
                  <a:pt x="4955" y="1457"/>
                  <a:pt x="4535" y="1877"/>
                  <a:pt x="4017" y="1877"/>
                </a:cubicBezTo>
                <a:lnTo>
                  <a:pt x="2637" y="1877"/>
                </a:lnTo>
                <a:lnTo>
                  <a:pt x="2637" y="1553"/>
                </a:lnTo>
                <a:lnTo>
                  <a:pt x="3995" y="1553"/>
                </a:lnTo>
                <a:cubicBezTo>
                  <a:pt x="4335" y="1553"/>
                  <a:pt x="4610" y="1278"/>
                  <a:pt x="4610" y="939"/>
                </a:cubicBezTo>
                <a:cubicBezTo>
                  <a:pt x="4610" y="599"/>
                  <a:pt x="4335" y="324"/>
                  <a:pt x="3995" y="324"/>
                </a:cubicBezTo>
                <a:lnTo>
                  <a:pt x="1165" y="324"/>
                </a:lnTo>
                <a:lnTo>
                  <a:pt x="1165" y="325"/>
                </a:lnTo>
                <a:lnTo>
                  <a:pt x="0" y="325"/>
                </a:lnTo>
                <a:lnTo>
                  <a:pt x="0" y="1"/>
                </a:lnTo>
                <a:lnTo>
                  <a:pt x="513" y="1"/>
                </a:lnTo>
                <a:lnTo>
                  <a:pt x="51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20" name="任意多边形 35"/>
          <p:cNvSpPr/>
          <p:nvPr>
            <p:custDataLst>
              <p:tags r:id="rId30"/>
            </p:custDataLst>
          </p:nvPr>
        </p:nvSpPr>
        <p:spPr>
          <a:xfrm rot="10800000">
            <a:off x="7532053" y="12769533"/>
            <a:ext cx="3134360" cy="2057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20" h="324">
                <a:moveTo>
                  <a:pt x="0" y="0"/>
                </a:moveTo>
                <a:lnTo>
                  <a:pt x="3220" y="0"/>
                </a:lnTo>
                <a:lnTo>
                  <a:pt x="3220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 36"/>
          <p:cNvSpPr/>
          <p:nvPr>
            <p:custDataLst>
              <p:tags r:id="rId31"/>
            </p:custDataLst>
          </p:nvPr>
        </p:nvSpPr>
        <p:spPr>
          <a:xfrm rot="10800000">
            <a:off x="9076373" y="13761403"/>
            <a:ext cx="3129915" cy="2057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9" h="324">
                <a:moveTo>
                  <a:pt x="0" y="0"/>
                </a:moveTo>
                <a:lnTo>
                  <a:pt x="4929" y="0"/>
                </a:lnTo>
                <a:lnTo>
                  <a:pt x="4929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" name="任意多边形 37"/>
          <p:cNvSpPr/>
          <p:nvPr>
            <p:custDataLst>
              <p:tags r:id="rId32"/>
            </p:custDataLst>
          </p:nvPr>
        </p:nvSpPr>
        <p:spPr>
          <a:xfrm rot="10800000">
            <a:off x="12206288" y="13760768"/>
            <a:ext cx="2513330" cy="2057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78" h="324">
                <a:moveTo>
                  <a:pt x="0" y="0"/>
                </a:moveTo>
                <a:lnTo>
                  <a:pt x="2878" y="0"/>
                </a:lnTo>
                <a:lnTo>
                  <a:pt x="2878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3" name="任意多边形 38"/>
          <p:cNvSpPr/>
          <p:nvPr>
            <p:custDataLst>
              <p:tags r:id="rId33"/>
            </p:custDataLst>
          </p:nvPr>
        </p:nvSpPr>
        <p:spPr>
          <a:xfrm>
            <a:off x="9228138" y="11785283"/>
            <a:ext cx="2806065" cy="119189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19" h="1877">
                <a:moveTo>
                  <a:pt x="0" y="0"/>
                </a:moveTo>
                <a:lnTo>
                  <a:pt x="3481" y="0"/>
                </a:lnTo>
                <a:cubicBezTo>
                  <a:pt x="3999" y="0"/>
                  <a:pt x="4419" y="420"/>
                  <a:pt x="4419" y="939"/>
                </a:cubicBezTo>
                <a:cubicBezTo>
                  <a:pt x="4419" y="1457"/>
                  <a:pt x="3999" y="1877"/>
                  <a:pt x="3481" y="1877"/>
                </a:cubicBezTo>
                <a:lnTo>
                  <a:pt x="2136" y="1877"/>
                </a:lnTo>
                <a:lnTo>
                  <a:pt x="2136" y="1553"/>
                </a:lnTo>
                <a:lnTo>
                  <a:pt x="3459" y="1553"/>
                </a:lnTo>
                <a:cubicBezTo>
                  <a:pt x="3799" y="1553"/>
                  <a:pt x="4074" y="1278"/>
                  <a:pt x="4074" y="939"/>
                </a:cubicBezTo>
                <a:cubicBezTo>
                  <a:pt x="4074" y="599"/>
                  <a:pt x="3799" y="324"/>
                  <a:pt x="3459" y="324"/>
                </a:cubicBez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4" name="任意多边形 42"/>
          <p:cNvSpPr/>
          <p:nvPr>
            <p:custDataLst>
              <p:tags r:id="rId34"/>
            </p:custDataLst>
          </p:nvPr>
        </p:nvSpPr>
        <p:spPr>
          <a:xfrm>
            <a:off x="3012123" y="11785283"/>
            <a:ext cx="6041390" cy="2057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763" h="324">
                <a:moveTo>
                  <a:pt x="0" y="0"/>
                </a:moveTo>
                <a:lnTo>
                  <a:pt x="8763" y="0"/>
                </a:lnTo>
                <a:lnTo>
                  <a:pt x="8763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5" name="矩形 25"/>
          <p:cNvSpPr/>
          <p:nvPr>
            <p:custDataLst>
              <p:tags r:id="rId35"/>
            </p:custDataLst>
          </p:nvPr>
        </p:nvSpPr>
        <p:spPr>
          <a:xfrm>
            <a:off x="8035608" y="10670223"/>
            <a:ext cx="2035810" cy="41211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27" name="序号"/>
          <p:cNvSpPr/>
          <p:nvPr>
            <p:custDataLst>
              <p:tags r:id="rId36"/>
            </p:custDataLst>
          </p:nvPr>
        </p:nvSpPr>
        <p:spPr>
          <a:xfrm>
            <a:off x="8785543" y="11655108"/>
            <a:ext cx="492760" cy="492760"/>
          </a:xfrm>
          <a:prstGeom prst="ellipse">
            <a:avLst/>
          </a:prstGeom>
          <a:solidFill>
            <a:srgbClr val="FFFFFF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accent2"/>
                </a:solidFill>
                <a:latin typeface="+mn-lt"/>
                <a:sym typeface="+mn-lt"/>
              </a:rPr>
              <a:t>2</a:t>
            </a:r>
            <a:endParaRPr lang="en-US" sz="1400" b="1">
              <a:solidFill>
                <a:schemeClr val="accent2"/>
              </a:solidFill>
              <a:latin typeface="+mn-lt"/>
              <a:sym typeface="+mn-lt"/>
            </a:endParaRPr>
          </a:p>
        </p:txBody>
      </p:sp>
      <p:sp>
        <p:nvSpPr>
          <p:cNvPr id="128" name="序号"/>
          <p:cNvSpPr/>
          <p:nvPr>
            <p:custDataLst>
              <p:tags r:id="rId37"/>
            </p:custDataLst>
          </p:nvPr>
        </p:nvSpPr>
        <p:spPr>
          <a:xfrm>
            <a:off x="10409873" y="12636818"/>
            <a:ext cx="492760" cy="492760"/>
          </a:xfrm>
          <a:prstGeom prst="ellipse">
            <a:avLst/>
          </a:prstGeom>
          <a:solidFill>
            <a:srgbClr val="FFFFFF"/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accent1"/>
                </a:solidFill>
                <a:latin typeface="+mn-lt"/>
                <a:sym typeface="+mn-lt"/>
              </a:rPr>
              <a:t>3</a:t>
            </a:r>
            <a:endParaRPr lang="en-US" sz="1400" b="1">
              <a:solidFill>
                <a:schemeClr val="accent1"/>
              </a:solidFill>
              <a:latin typeface="+mn-lt"/>
              <a:sym typeface="+mn-lt"/>
            </a:endParaRPr>
          </a:p>
        </p:txBody>
      </p:sp>
      <p:sp>
        <p:nvSpPr>
          <p:cNvPr id="129" name="序号"/>
          <p:cNvSpPr/>
          <p:nvPr>
            <p:custDataLst>
              <p:tags r:id="rId38"/>
            </p:custDataLst>
          </p:nvPr>
        </p:nvSpPr>
        <p:spPr>
          <a:xfrm>
            <a:off x="7109143" y="12638088"/>
            <a:ext cx="492760" cy="492760"/>
          </a:xfrm>
          <a:prstGeom prst="ellipse">
            <a:avLst/>
          </a:prstGeom>
          <a:solidFill>
            <a:srgbClr val="FFFFFF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accent2"/>
                </a:solidFill>
                <a:latin typeface="+mn-lt"/>
                <a:sym typeface="+mn-lt"/>
              </a:rPr>
              <a:t>4</a:t>
            </a:r>
            <a:endParaRPr lang="en-US" sz="1400" b="1">
              <a:solidFill>
                <a:schemeClr val="accent2"/>
              </a:solidFill>
              <a:latin typeface="+mn-lt"/>
              <a:sym typeface="+mn-lt"/>
            </a:endParaRPr>
          </a:p>
        </p:txBody>
      </p:sp>
      <p:sp>
        <p:nvSpPr>
          <p:cNvPr id="130" name="序号"/>
          <p:cNvSpPr/>
          <p:nvPr>
            <p:custDataLst>
              <p:tags r:id="rId39"/>
            </p:custDataLst>
          </p:nvPr>
        </p:nvSpPr>
        <p:spPr>
          <a:xfrm>
            <a:off x="8785543" y="13625513"/>
            <a:ext cx="492760" cy="492760"/>
          </a:xfrm>
          <a:prstGeom prst="ellipse">
            <a:avLst/>
          </a:prstGeom>
          <a:solidFill>
            <a:srgbClr val="FFFFFF"/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accent1"/>
                </a:solidFill>
                <a:latin typeface="+mn-lt"/>
                <a:sym typeface="+mn-lt"/>
              </a:rPr>
              <a:t>5</a:t>
            </a:r>
            <a:endParaRPr lang="en-US" sz="1400" b="1">
              <a:solidFill>
                <a:schemeClr val="accent1"/>
              </a:solidFill>
              <a:latin typeface="+mn-lt"/>
              <a:sym typeface="+mn-lt"/>
            </a:endParaRPr>
          </a:p>
        </p:txBody>
      </p:sp>
      <p:sp>
        <p:nvSpPr>
          <p:cNvPr id="131" name="序号"/>
          <p:cNvSpPr/>
          <p:nvPr>
            <p:custDataLst>
              <p:tags r:id="rId40"/>
            </p:custDataLst>
          </p:nvPr>
        </p:nvSpPr>
        <p:spPr>
          <a:xfrm>
            <a:off x="12034203" y="13625513"/>
            <a:ext cx="492760" cy="492760"/>
          </a:xfrm>
          <a:prstGeom prst="ellipse">
            <a:avLst/>
          </a:prstGeom>
          <a:solidFill>
            <a:srgbClr val="FFFFFF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accent2"/>
                </a:solidFill>
                <a:latin typeface="+mn-lt"/>
                <a:sym typeface="+mn-lt"/>
              </a:rPr>
              <a:t>6</a:t>
            </a:r>
            <a:endParaRPr lang="en-US" sz="1400" b="1">
              <a:solidFill>
                <a:schemeClr val="accent2"/>
              </a:solidFill>
              <a:latin typeface="+mn-lt"/>
              <a:sym typeface="+mn-lt"/>
            </a:endParaRPr>
          </a:p>
        </p:txBody>
      </p:sp>
      <p:sp>
        <p:nvSpPr>
          <p:cNvPr id="132" name="任意多边形: 形状 35"/>
          <p:cNvSpPr/>
          <p:nvPr>
            <p:custDataLst>
              <p:tags r:id="rId41"/>
            </p:custDataLst>
          </p:nvPr>
        </p:nvSpPr>
        <p:spPr>
          <a:xfrm>
            <a:off x="14688503" y="13683933"/>
            <a:ext cx="226695" cy="346075"/>
          </a:xfrm>
          <a:custGeom>
            <a:avLst/>
            <a:gdLst>
              <a:gd name="connsiteX0" fmla="*/ 222587 w 228229"/>
              <a:gd name="connsiteY0" fmla="*/ 120936 h 260315"/>
              <a:gd name="connsiteX1" fmla="*/ 14943 w 228229"/>
              <a:gd name="connsiteY1" fmla="*/ 1017 h 260315"/>
              <a:gd name="connsiteX2" fmla="*/ 893 w 228229"/>
              <a:gd name="connsiteY2" fmla="*/ 4779 h 260315"/>
              <a:gd name="connsiteX3" fmla="*/ -488 w 228229"/>
              <a:gd name="connsiteY3" fmla="*/ 9875 h 260315"/>
              <a:gd name="connsiteX4" fmla="*/ -488 w 228229"/>
              <a:gd name="connsiteY4" fmla="*/ 249714 h 260315"/>
              <a:gd name="connsiteX5" fmla="*/ 9847 w 228229"/>
              <a:gd name="connsiteY5" fmla="*/ 259954 h 260315"/>
              <a:gd name="connsiteX6" fmla="*/ 14943 w 228229"/>
              <a:gd name="connsiteY6" fmla="*/ 258572 h 260315"/>
              <a:gd name="connsiteX7" fmla="*/ 222587 w 228229"/>
              <a:gd name="connsiteY7" fmla="*/ 138653 h 260315"/>
              <a:gd name="connsiteX8" fmla="*/ 226407 w 228229"/>
              <a:gd name="connsiteY8" fmla="*/ 124756 h 260315"/>
              <a:gd name="connsiteX9" fmla="*/ 222587 w 228229"/>
              <a:gd name="connsiteY9" fmla="*/ 120936 h 26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8229" h="260315">
                <a:moveTo>
                  <a:pt x="222587" y="120936"/>
                </a:moveTo>
                <a:lnTo>
                  <a:pt x="14943" y="1017"/>
                </a:lnTo>
                <a:cubicBezTo>
                  <a:pt x="10018" y="-1822"/>
                  <a:pt x="3732" y="-136"/>
                  <a:pt x="893" y="4779"/>
                </a:cubicBezTo>
                <a:cubicBezTo>
                  <a:pt x="-2" y="6331"/>
                  <a:pt x="-479" y="8084"/>
                  <a:pt x="-488" y="9875"/>
                </a:cubicBezTo>
                <a:lnTo>
                  <a:pt x="-488" y="249714"/>
                </a:lnTo>
                <a:cubicBezTo>
                  <a:pt x="-459" y="255391"/>
                  <a:pt x="4170" y="259982"/>
                  <a:pt x="9847" y="259954"/>
                </a:cubicBezTo>
                <a:cubicBezTo>
                  <a:pt x="11637" y="259944"/>
                  <a:pt x="13390" y="259468"/>
                  <a:pt x="14943" y="258572"/>
                </a:cubicBezTo>
                <a:lnTo>
                  <a:pt x="222587" y="138653"/>
                </a:lnTo>
                <a:cubicBezTo>
                  <a:pt x="227483" y="135871"/>
                  <a:pt x="229188" y="129642"/>
                  <a:pt x="226407" y="124756"/>
                </a:cubicBezTo>
                <a:cubicBezTo>
                  <a:pt x="225502" y="123165"/>
                  <a:pt x="224178" y="121841"/>
                  <a:pt x="222587" y="12093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3" name="序号"/>
          <p:cNvSpPr/>
          <p:nvPr>
            <p:custDataLst>
              <p:tags r:id="rId42"/>
            </p:custDataLst>
          </p:nvPr>
        </p:nvSpPr>
        <p:spPr>
          <a:xfrm>
            <a:off x="1185545" y="5295900"/>
            <a:ext cx="850900" cy="80518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25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400" b="1">
                <a:solidFill>
                  <a:schemeClr val="tx1"/>
                </a:solidFill>
                <a:latin typeface="+mn-lt"/>
                <a:sym typeface="+mn-lt"/>
              </a:rPr>
              <a:t>1</a:t>
            </a:r>
            <a:endParaRPr lang="en-US" sz="4400" b="1">
              <a:solidFill>
                <a:schemeClr val="tx1"/>
              </a:solidFill>
              <a:latin typeface="+mn-lt"/>
              <a:sym typeface="+mn-lt"/>
            </a:endParaRPr>
          </a:p>
        </p:txBody>
      </p:sp>
      <p:sp>
        <p:nvSpPr>
          <p:cNvPr id="134" name="序号"/>
          <p:cNvSpPr/>
          <p:nvPr>
            <p:custDataLst>
              <p:tags r:id="rId43"/>
            </p:custDataLst>
          </p:nvPr>
        </p:nvSpPr>
        <p:spPr>
          <a:xfrm>
            <a:off x="7086600" y="4490720"/>
            <a:ext cx="850900" cy="80518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25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400" b="1">
                <a:solidFill>
                  <a:schemeClr val="tx1"/>
                </a:solidFill>
                <a:latin typeface="+mn-lt"/>
                <a:sym typeface="+mn-lt"/>
              </a:rPr>
              <a:t>3</a:t>
            </a:r>
            <a:endParaRPr lang="en-US" sz="4400" b="1">
              <a:solidFill>
                <a:schemeClr val="tx1"/>
              </a:solidFill>
              <a:latin typeface="+mn-lt"/>
              <a:sym typeface="+mn-lt"/>
            </a:endParaRPr>
          </a:p>
        </p:txBody>
      </p:sp>
      <p:sp>
        <p:nvSpPr>
          <p:cNvPr id="135" name="序号"/>
          <p:cNvSpPr/>
          <p:nvPr>
            <p:custDataLst>
              <p:tags r:id="rId44"/>
            </p:custDataLst>
          </p:nvPr>
        </p:nvSpPr>
        <p:spPr>
          <a:xfrm>
            <a:off x="12746990" y="3685540"/>
            <a:ext cx="850900" cy="80518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A25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400" b="1">
                <a:solidFill>
                  <a:schemeClr val="tx1"/>
                </a:solidFill>
                <a:latin typeface="+mn-lt"/>
                <a:sym typeface="+mn-lt"/>
              </a:rPr>
              <a:t>5</a:t>
            </a:r>
            <a:endParaRPr lang="en-US" sz="4400" b="1">
              <a:solidFill>
                <a:schemeClr val="tx1"/>
              </a:solidFill>
              <a:latin typeface="+mn-lt"/>
              <a:sym typeface="+mn-lt"/>
            </a:endParaRPr>
          </a:p>
        </p:txBody>
      </p:sp>
      <p:sp>
        <p:nvSpPr>
          <p:cNvPr id="136" name="序号"/>
          <p:cNvSpPr/>
          <p:nvPr>
            <p:custDataLst>
              <p:tags r:id="rId45"/>
            </p:custDataLst>
          </p:nvPr>
        </p:nvSpPr>
        <p:spPr>
          <a:xfrm>
            <a:off x="9968230" y="4109720"/>
            <a:ext cx="850900" cy="80518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8AA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400" b="1">
                <a:solidFill>
                  <a:schemeClr val="tx1"/>
                </a:solidFill>
                <a:latin typeface="+mn-lt"/>
                <a:sym typeface="+mn-lt"/>
              </a:rPr>
              <a:t>4</a:t>
            </a:r>
            <a:endParaRPr lang="en-US" sz="4400" b="1">
              <a:solidFill>
                <a:schemeClr val="tx1"/>
              </a:solidFill>
              <a:latin typeface="+mn-lt"/>
              <a:sym typeface="+mn-lt"/>
            </a:endParaRPr>
          </a:p>
        </p:txBody>
      </p:sp>
      <p:sp>
        <p:nvSpPr>
          <p:cNvPr id="137" name="序号"/>
          <p:cNvSpPr/>
          <p:nvPr>
            <p:custDataLst>
              <p:tags r:id="rId46"/>
            </p:custDataLst>
          </p:nvPr>
        </p:nvSpPr>
        <p:spPr>
          <a:xfrm>
            <a:off x="4191000" y="4939665"/>
            <a:ext cx="850900" cy="80518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8AA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400" b="1">
                <a:solidFill>
                  <a:schemeClr val="tx1"/>
                </a:solidFill>
                <a:latin typeface="+mn-lt"/>
                <a:sym typeface="+mn-lt"/>
              </a:rPr>
              <a:t>2</a:t>
            </a:r>
            <a:endParaRPr lang="en-US" sz="4400" b="1">
              <a:solidFill>
                <a:schemeClr val="tx1"/>
              </a:solidFill>
              <a:latin typeface="+mn-lt"/>
              <a:sym typeface="+mn-lt"/>
            </a:endParaRPr>
          </a:p>
        </p:txBody>
      </p:sp>
      <p:sp>
        <p:nvSpPr>
          <p:cNvPr id="140" name="序号"/>
          <p:cNvSpPr/>
          <p:nvPr>
            <p:custDataLst>
              <p:tags r:id="rId47"/>
            </p:custDataLst>
          </p:nvPr>
        </p:nvSpPr>
        <p:spPr>
          <a:xfrm>
            <a:off x="15773400" y="3162300"/>
            <a:ext cx="850900" cy="80518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38AA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400" b="1">
                <a:solidFill>
                  <a:schemeClr val="tx1"/>
                </a:solidFill>
                <a:latin typeface="+mn-lt"/>
                <a:sym typeface="+mn-lt"/>
              </a:rPr>
              <a:t>6</a:t>
            </a:r>
            <a:endParaRPr lang="en-US" sz="4400" b="1">
              <a:solidFill>
                <a:schemeClr val="tx1"/>
              </a:solidFill>
              <a:latin typeface="+mn-lt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reeform 14"/>
          <p:cNvSpPr/>
          <p:nvPr/>
        </p:nvSpPr>
        <p:spPr>
          <a:xfrm>
            <a:off x="5854700" y="-7123805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6"/>
          <p:cNvGrpSpPr/>
          <p:nvPr>
            <p:custDataLst>
              <p:tags r:id="rId3"/>
            </p:custDataLst>
          </p:nvPr>
        </p:nvGrpSpPr>
        <p:grpSpPr>
          <a:xfrm>
            <a:off x="457200" y="4076700"/>
            <a:ext cx="17438370" cy="3276600"/>
            <a:chOff x="720" y="6540"/>
            <a:chExt cx="27462" cy="5160"/>
          </a:xfrm>
        </p:grpSpPr>
        <p:grpSp>
          <p:nvGrpSpPr>
            <p:cNvPr id="9" name="Group 8"/>
            <p:cNvGrpSpPr/>
            <p:nvPr>
              <p:custDataLst>
                <p:tags r:id="rId4"/>
              </p:custDataLst>
            </p:nvPr>
          </p:nvGrpSpPr>
          <p:grpSpPr>
            <a:xfrm>
              <a:off x="2160" y="6540"/>
              <a:ext cx="24109" cy="2172"/>
              <a:chOff x="2259" y="7392"/>
              <a:chExt cx="17789" cy="1572"/>
            </a:xfrm>
          </p:grpSpPr>
          <p:sp>
            <p:nvSpPr>
              <p:cNvPr id="10" name="椭圆"/>
              <p:cNvSpPr/>
              <p:nvPr>
                <p:custDataLst>
                  <p:tags r:id="rId5"/>
                </p:custDataLst>
              </p:nvPr>
            </p:nvSpPr>
            <p:spPr>
              <a:xfrm>
                <a:off x="2259" y="7449"/>
                <a:ext cx="1463" cy="1464"/>
              </a:xfrm>
              <a:prstGeom prst="ellipse">
                <a:avLst/>
              </a:prstGeom>
              <a:noFill/>
              <a:ln w="6350">
                <a:solidFill>
                  <a:srgbClr val="102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6"/>
                </p:custDataLst>
              </p:nvPr>
            </p:nvSpPr>
            <p:spPr>
              <a:xfrm>
                <a:off x="2395" y="7585"/>
                <a:ext cx="1193" cy="1193"/>
              </a:xfrm>
              <a:prstGeom prst="ellipse">
                <a:avLst/>
              </a:prstGeom>
              <a:solidFill>
                <a:srgbClr val="10253F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01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7" name="椭圆"/>
              <p:cNvSpPr/>
              <p:nvPr>
                <p:custDataLst>
                  <p:tags r:id="rId7"/>
                </p:custDataLst>
              </p:nvPr>
            </p:nvSpPr>
            <p:spPr>
              <a:xfrm>
                <a:off x="4988" y="7449"/>
                <a:ext cx="1463" cy="1464"/>
              </a:xfrm>
              <a:prstGeom prst="ellipse">
                <a:avLst/>
              </a:prstGeom>
              <a:noFill/>
              <a:ln w="6350">
                <a:gradFill flip="none" rotWithShape="1">
                  <a:gsLst>
                    <a:gs pos="0">
                      <a:schemeClr val="accent5">
                        <a:alpha val="100000"/>
                      </a:schemeClr>
                    </a:gs>
                    <a:gs pos="88000">
                      <a:schemeClr val="accent5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8"/>
                </p:custDataLst>
              </p:nvPr>
            </p:nvSpPr>
            <p:spPr>
              <a:xfrm>
                <a:off x="5124" y="7585"/>
                <a:ext cx="1193" cy="1193"/>
              </a:xfrm>
              <a:prstGeom prst="ellipse">
                <a:avLst/>
              </a:prstGeom>
              <a:solidFill>
                <a:schemeClr val="accent5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02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9" name="弧形 85"/>
              <p:cNvSpPr/>
              <p:nvPr>
                <p:custDataLst>
                  <p:tags r:id="rId9"/>
                </p:custDataLst>
              </p:nvPr>
            </p:nvSpPr>
            <p:spPr>
              <a:xfrm rot="16200000">
                <a:off x="4880" y="7392"/>
                <a:ext cx="1572" cy="1572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0" name="椭圆"/>
              <p:cNvSpPr/>
              <p:nvPr>
                <p:custDataLst>
                  <p:tags r:id="rId10"/>
                </p:custDataLst>
              </p:nvPr>
            </p:nvSpPr>
            <p:spPr>
              <a:xfrm>
                <a:off x="7719" y="7449"/>
                <a:ext cx="1463" cy="1464"/>
              </a:xfrm>
              <a:prstGeom prst="ellipse">
                <a:avLst/>
              </a:prstGeom>
              <a:noFill/>
              <a:ln w="6350">
                <a:solidFill>
                  <a:srgbClr val="102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1" name="椭圆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7855" y="7585"/>
                <a:ext cx="1193" cy="1193"/>
              </a:xfrm>
              <a:prstGeom prst="ellipse">
                <a:avLst/>
              </a:prstGeom>
              <a:solidFill>
                <a:srgbClr val="10253F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03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23" name="椭圆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448" y="7449"/>
                <a:ext cx="1463" cy="1464"/>
              </a:xfrm>
              <a:prstGeom prst="ellipse">
                <a:avLst/>
              </a:prstGeom>
              <a:noFill/>
              <a:ln w="6350">
                <a:gradFill flip="none" rotWithShape="1">
                  <a:gsLst>
                    <a:gs pos="0">
                      <a:schemeClr val="accent5">
                        <a:alpha val="100000"/>
                      </a:schemeClr>
                    </a:gs>
                    <a:gs pos="88000">
                      <a:schemeClr val="accent5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4" name="椭圆 23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583" y="7585"/>
                <a:ext cx="1193" cy="1193"/>
              </a:xfrm>
              <a:prstGeom prst="ellipse">
                <a:avLst/>
              </a:prstGeom>
              <a:solidFill>
                <a:schemeClr val="accent5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04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25" name="弧形 85"/>
              <p:cNvSpPr/>
              <p:nvPr>
                <p:custDataLst>
                  <p:tags r:id="rId14"/>
                </p:custDataLst>
              </p:nvPr>
            </p:nvSpPr>
            <p:spPr>
              <a:xfrm rot="16200000">
                <a:off x="10340" y="7392"/>
                <a:ext cx="1572" cy="1572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8" name="椭圆"/>
              <p:cNvSpPr/>
              <p:nvPr>
                <p:custDataLst>
                  <p:tags r:id="rId15"/>
                </p:custDataLst>
              </p:nvPr>
            </p:nvSpPr>
            <p:spPr>
              <a:xfrm>
                <a:off x="13179" y="7449"/>
                <a:ext cx="1463" cy="1464"/>
              </a:xfrm>
              <a:prstGeom prst="ellipse">
                <a:avLst/>
              </a:prstGeom>
              <a:noFill/>
              <a:ln w="6350">
                <a:solidFill>
                  <a:srgbClr val="102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6" name="椭圆 25"/>
              <p:cNvSpPr/>
              <p:nvPr>
                <p:custDataLst>
                  <p:tags r:id="rId16"/>
                </p:custDataLst>
              </p:nvPr>
            </p:nvSpPr>
            <p:spPr>
              <a:xfrm>
                <a:off x="13313" y="7585"/>
                <a:ext cx="1193" cy="1193"/>
              </a:xfrm>
              <a:prstGeom prst="ellipse">
                <a:avLst/>
              </a:prstGeom>
              <a:solidFill>
                <a:srgbClr val="10253F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05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grpSp>
            <p:nvGrpSpPr>
              <p:cNvPr id="3" name="Group 2"/>
              <p:cNvGrpSpPr/>
              <p:nvPr>
                <p:custDataLst>
                  <p:tags r:id="rId17"/>
                </p:custDataLst>
              </p:nvPr>
            </p:nvGrpSpPr>
            <p:grpSpPr>
              <a:xfrm>
                <a:off x="15800" y="7392"/>
                <a:ext cx="1572" cy="1572"/>
                <a:chOff x="15800" y="7392"/>
                <a:chExt cx="1572" cy="1572"/>
              </a:xfrm>
            </p:grpSpPr>
            <p:sp>
              <p:nvSpPr>
                <p:cNvPr id="63" name="椭圆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908" y="7449"/>
                  <a:ext cx="1463" cy="1464"/>
                </a:xfrm>
                <a:prstGeom prst="ellipse">
                  <a:avLst/>
                </a:prstGeom>
                <a:noFill/>
                <a:ln w="6350">
                  <a:gradFill flip="none" rotWithShape="1">
                    <a:gsLst>
                      <a:gs pos="0">
                        <a:schemeClr val="accent5">
                          <a:alpha val="100000"/>
                        </a:schemeClr>
                      </a:gs>
                      <a:gs pos="88000">
                        <a:schemeClr val="accent5">
                          <a:alpha val="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64565" tIns="82282" rIns="164565" bIns="82282"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36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9" name="椭圆 28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6043" y="7585"/>
                  <a:ext cx="1193" cy="1193"/>
                </a:xfrm>
                <a:prstGeom prst="ellipse">
                  <a:avLst/>
                </a:prstGeom>
                <a:solidFill>
                  <a:schemeClr val="accent5"/>
                </a:solidFill>
              </p:spPr>
              <p:txBody>
                <a:bodyPr wrap="none" lIns="0" tIns="0" rIns="0" bIns="0" rtlCol="0" anchor="ctr" anchorCtr="0">
                  <a:noAutofit/>
                </a:bodyPr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3600" b="1">
                      <a:solidFill>
                        <a:schemeClr val="lt1">
                          <a:lumMod val="100000"/>
                        </a:schemeClr>
                      </a:solidFill>
                      <a:latin typeface="+mn-lt"/>
                    </a:rPr>
                    <a:t>06</a:t>
                  </a:r>
                  <a:endPara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endParaRPr>
                </a:p>
              </p:txBody>
            </p:sp>
            <p:sp>
              <p:nvSpPr>
                <p:cNvPr id="62" name="弧形 85"/>
                <p:cNvSpPr/>
                <p:nvPr>
                  <p:custDataLst>
                    <p:tags r:id="rId20"/>
                  </p:custDataLst>
                </p:nvPr>
              </p:nvSpPr>
              <p:spPr>
                <a:xfrm rot="16200000">
                  <a:off x="15800" y="7392"/>
                  <a:ext cx="1572" cy="1572"/>
                </a:xfrm>
                <a:prstGeom prst="arc">
                  <a:avLst>
                    <a:gd name="adj1" fmla="val 2657162"/>
                    <a:gd name="adj2" fmla="val 8176062"/>
                  </a:avLst>
                </a:prstGeom>
                <a:noFill/>
                <a:ln w="38100" cap="rnd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36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</p:grpSp>
          <p:cxnSp>
            <p:nvCxnSpPr>
              <p:cNvPr id="30" name="直接连接符 29"/>
              <p:cNvCxnSpPr>
                <a:endCxn id="17" idx="2"/>
              </p:cNvCxnSpPr>
              <p:nvPr>
                <p:custDataLst>
                  <p:tags r:id="rId21"/>
                </p:custDataLst>
              </p:nvPr>
            </p:nvCxnSpPr>
            <p:spPr>
              <a:xfrm>
                <a:off x="3752" y="8177"/>
                <a:ext cx="1236" cy="4"/>
              </a:xfrm>
              <a:prstGeom prst="line">
                <a:avLst/>
              </a:prstGeom>
              <a:ln w="15875">
                <a:solidFill>
                  <a:schemeClr val="accent5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6483" y="8179"/>
                <a:ext cx="1236" cy="4"/>
              </a:xfrm>
              <a:prstGeom prst="line">
                <a:avLst/>
              </a:prstGeom>
              <a:ln w="15875">
                <a:solidFill>
                  <a:schemeClr val="accent4">
                    <a:shade val="95000"/>
                    <a:satMod val="10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9212" y="8179"/>
                <a:ext cx="1236" cy="4"/>
              </a:xfrm>
              <a:prstGeom prst="line">
                <a:avLst/>
              </a:prstGeom>
              <a:ln w="15875">
                <a:solidFill>
                  <a:schemeClr val="accent5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11942" y="8179"/>
                <a:ext cx="1236" cy="4"/>
              </a:xfrm>
              <a:prstGeom prst="line">
                <a:avLst/>
              </a:prstGeom>
              <a:ln w="15875">
                <a:solidFill>
                  <a:srgbClr val="7D60A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14672" y="8179"/>
                <a:ext cx="1236" cy="4"/>
              </a:xfrm>
              <a:prstGeom prst="line">
                <a:avLst/>
              </a:prstGeom>
              <a:ln w="15875">
                <a:solidFill>
                  <a:schemeClr val="accent5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" name="Group 3"/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18585" y="7449"/>
                <a:ext cx="1463" cy="1464"/>
                <a:chOff x="15908" y="7449"/>
                <a:chExt cx="1463" cy="1464"/>
              </a:xfrm>
            </p:grpSpPr>
            <p:sp>
              <p:nvSpPr>
                <p:cNvPr id="5" name="椭圆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5908" y="7449"/>
                  <a:ext cx="1463" cy="1464"/>
                </a:xfrm>
                <a:prstGeom prst="ellipse">
                  <a:avLst/>
                </a:prstGeom>
                <a:noFill/>
                <a:ln w="6350">
                  <a:solidFill>
                    <a:srgbClr val="1025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64565" tIns="82282" rIns="164565" bIns="82282"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36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" name="椭圆 28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6043" y="7585"/>
                  <a:ext cx="1193" cy="1193"/>
                </a:xfrm>
                <a:prstGeom prst="ellipse">
                  <a:avLst/>
                </a:prstGeom>
                <a:solidFill>
                  <a:srgbClr val="10253F"/>
                </a:solidFill>
              </p:spPr>
              <p:txBody>
                <a:bodyPr wrap="none" lIns="0" tIns="0" rIns="0" bIns="0" rtlCol="0" anchor="ctr" anchorCtr="0">
                  <a:noAutofit/>
                </a:bodyPr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3600" b="1">
                      <a:solidFill>
                        <a:schemeClr val="lt1">
                          <a:lumMod val="100000"/>
                        </a:schemeClr>
                      </a:solidFill>
                      <a:latin typeface="+mn-lt"/>
                    </a:rPr>
                    <a:t>06</a:t>
                  </a:r>
                  <a:endPara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endParaRPr>
                </a:p>
              </p:txBody>
            </p:sp>
          </p:grpSp>
          <p:cxnSp>
            <p:nvCxnSpPr>
              <p:cNvPr id="8" name="直接连接符 75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17400" y="8173"/>
                <a:ext cx="1236" cy="4"/>
              </a:xfrm>
              <a:prstGeom prst="line">
                <a:avLst/>
              </a:prstGeom>
              <a:ln w="15875">
                <a:solidFill>
                  <a:srgbClr val="7D60A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 Box 67"/>
            <p:cNvSpPr txBox="1"/>
            <p:nvPr/>
          </p:nvSpPr>
          <p:spPr>
            <a:xfrm>
              <a:off x="720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Plaintext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64-Bit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8542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Split into Halves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L</a:t>
              </a:r>
              <a:r>
                <a:rPr lang="en-US" sz="3600" b="1" baseline="-25000" dirty="0">
                  <a:solidFill>
                    <a:srgbClr val="2B1554"/>
                  </a:solidFill>
                  <a:sym typeface="+mn-lt"/>
                </a:rPr>
                <a:t>0</a:t>
              </a: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 &amp; R</a:t>
              </a:r>
              <a:r>
                <a:rPr lang="en-US" sz="3600" b="1" baseline="-25000" dirty="0">
                  <a:solidFill>
                    <a:srgbClr val="2B1554"/>
                  </a:solidFill>
                  <a:sym typeface="+mn-lt"/>
                </a:rPr>
                <a:t>0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5850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Final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Swap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23880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Ciphertext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64-Bit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73" name="Text Box 72"/>
            <p:cNvSpPr txBox="1"/>
            <p:nvPr/>
          </p:nvSpPr>
          <p:spPr>
            <a:xfrm>
              <a:off x="4800" y="8940"/>
              <a:ext cx="4302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Initial Permutation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12240" y="8940"/>
              <a:ext cx="4302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16 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  <a:p>
              <a:pPr algn="ctr"/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Rounds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9578" y="8940"/>
              <a:ext cx="4302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Final 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Permutation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  <a:p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5146040" y="506730"/>
            <a:ext cx="12608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DES Encryption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2"/>
          <p:cNvGrpSpPr/>
          <p:nvPr>
            <p:custDataLst>
              <p:tags r:id="rId1"/>
            </p:custDataLst>
          </p:nvPr>
        </p:nvGrpSpPr>
        <p:grpSpPr>
          <a:xfrm>
            <a:off x="-990600" y="2604770"/>
            <a:ext cx="19495770" cy="6174740"/>
            <a:chOff x="-1560" y="3382"/>
            <a:chExt cx="30702" cy="9724"/>
          </a:xfrm>
        </p:grpSpPr>
        <p:sp>
          <p:nvSpPr>
            <p:cNvPr id="66" name="任意多边形 20"/>
            <p:cNvSpPr/>
            <p:nvPr>
              <p:custDataLst>
                <p:tags r:id="rId2"/>
              </p:custDataLst>
            </p:nvPr>
          </p:nvSpPr>
          <p:spPr>
            <a:xfrm rot="10800000">
              <a:off x="8157" y="8207"/>
              <a:ext cx="7154" cy="3166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55" h="1877">
                  <a:moveTo>
                    <a:pt x="513" y="0"/>
                  </a:moveTo>
                  <a:lnTo>
                    <a:pt x="4017" y="0"/>
                  </a:lnTo>
                  <a:cubicBezTo>
                    <a:pt x="4535" y="0"/>
                    <a:pt x="4955" y="420"/>
                    <a:pt x="4955" y="939"/>
                  </a:cubicBezTo>
                  <a:cubicBezTo>
                    <a:pt x="4955" y="1457"/>
                    <a:pt x="4535" y="1877"/>
                    <a:pt x="4017" y="1877"/>
                  </a:cubicBezTo>
                  <a:lnTo>
                    <a:pt x="2637" y="1877"/>
                  </a:lnTo>
                  <a:lnTo>
                    <a:pt x="2637" y="1553"/>
                  </a:lnTo>
                  <a:lnTo>
                    <a:pt x="3995" y="1553"/>
                  </a:lnTo>
                  <a:cubicBezTo>
                    <a:pt x="4335" y="1553"/>
                    <a:pt x="4610" y="1278"/>
                    <a:pt x="4610" y="939"/>
                  </a:cubicBezTo>
                  <a:cubicBezTo>
                    <a:pt x="4610" y="599"/>
                    <a:pt x="4335" y="324"/>
                    <a:pt x="3995" y="324"/>
                  </a:cubicBezTo>
                  <a:lnTo>
                    <a:pt x="1165" y="324"/>
                  </a:lnTo>
                  <a:lnTo>
                    <a:pt x="1165" y="325"/>
                  </a:lnTo>
                  <a:lnTo>
                    <a:pt x="0" y="325"/>
                  </a:lnTo>
                  <a:lnTo>
                    <a:pt x="0" y="1"/>
                  </a:lnTo>
                  <a:lnTo>
                    <a:pt x="513" y="1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1025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67" name="任意多边形 35"/>
            <p:cNvSpPr/>
            <p:nvPr>
              <p:custDataLst>
                <p:tags r:id="rId3"/>
              </p:custDataLst>
            </p:nvPr>
          </p:nvSpPr>
          <p:spPr>
            <a:xfrm rot="10800000">
              <a:off x="11338" y="8193"/>
              <a:ext cx="6845" cy="595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20" h="324">
                  <a:moveTo>
                    <a:pt x="0" y="0"/>
                  </a:moveTo>
                  <a:lnTo>
                    <a:pt x="3220" y="0"/>
                  </a:lnTo>
                  <a:lnTo>
                    <a:pt x="3220" y="324"/>
                  </a:lnTo>
                  <a:lnTo>
                    <a:pt x="0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AAA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8" name="任意多边形 36"/>
            <p:cNvSpPr/>
            <p:nvPr>
              <p:custDataLst>
                <p:tags r:id="rId4"/>
              </p:custDataLst>
            </p:nvPr>
          </p:nvSpPr>
          <p:spPr>
            <a:xfrm rot="10800000">
              <a:off x="14711" y="10821"/>
              <a:ext cx="6835" cy="552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29" h="324">
                  <a:moveTo>
                    <a:pt x="0" y="0"/>
                  </a:moveTo>
                  <a:lnTo>
                    <a:pt x="4929" y="0"/>
                  </a:lnTo>
                  <a:lnTo>
                    <a:pt x="4929" y="324"/>
                  </a:lnTo>
                  <a:lnTo>
                    <a:pt x="0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AAA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9" name="任意多边形 37"/>
            <p:cNvSpPr/>
            <p:nvPr>
              <p:custDataLst>
                <p:tags r:id="rId5"/>
              </p:custDataLst>
            </p:nvPr>
          </p:nvSpPr>
          <p:spPr>
            <a:xfrm rot="10800000">
              <a:off x="21545" y="10821"/>
              <a:ext cx="5489" cy="552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78" h="324">
                  <a:moveTo>
                    <a:pt x="0" y="0"/>
                  </a:moveTo>
                  <a:lnTo>
                    <a:pt x="2878" y="0"/>
                  </a:lnTo>
                  <a:lnTo>
                    <a:pt x="2878" y="324"/>
                  </a:lnTo>
                  <a:lnTo>
                    <a:pt x="0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25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0" name="任意多边形 38"/>
            <p:cNvSpPr/>
            <p:nvPr>
              <p:custDataLst>
                <p:tags r:id="rId6"/>
              </p:custDataLst>
            </p:nvPr>
          </p:nvSpPr>
          <p:spPr>
            <a:xfrm>
              <a:off x="15042" y="5340"/>
              <a:ext cx="6128" cy="3462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19" h="1877">
                  <a:moveTo>
                    <a:pt x="0" y="0"/>
                  </a:moveTo>
                  <a:lnTo>
                    <a:pt x="3481" y="0"/>
                  </a:lnTo>
                  <a:cubicBezTo>
                    <a:pt x="3999" y="0"/>
                    <a:pt x="4419" y="420"/>
                    <a:pt x="4419" y="939"/>
                  </a:cubicBezTo>
                  <a:cubicBezTo>
                    <a:pt x="4419" y="1457"/>
                    <a:pt x="3999" y="1877"/>
                    <a:pt x="3481" y="1877"/>
                  </a:cubicBezTo>
                  <a:lnTo>
                    <a:pt x="2136" y="1877"/>
                  </a:lnTo>
                  <a:lnTo>
                    <a:pt x="2136" y="1553"/>
                  </a:lnTo>
                  <a:lnTo>
                    <a:pt x="3459" y="1553"/>
                  </a:lnTo>
                  <a:cubicBezTo>
                    <a:pt x="3799" y="1553"/>
                    <a:pt x="4074" y="1278"/>
                    <a:pt x="4074" y="939"/>
                  </a:cubicBezTo>
                  <a:cubicBezTo>
                    <a:pt x="4074" y="599"/>
                    <a:pt x="3799" y="324"/>
                    <a:pt x="3459" y="324"/>
                  </a:cubicBezTo>
                  <a:lnTo>
                    <a:pt x="0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25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1" name="任意多边形 42"/>
            <p:cNvSpPr/>
            <p:nvPr>
              <p:custDataLst>
                <p:tags r:id="rId7"/>
              </p:custDataLst>
            </p:nvPr>
          </p:nvSpPr>
          <p:spPr>
            <a:xfrm>
              <a:off x="1468" y="5315"/>
              <a:ext cx="13193" cy="594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763" h="324">
                  <a:moveTo>
                    <a:pt x="0" y="0"/>
                  </a:moveTo>
                  <a:lnTo>
                    <a:pt x="8763" y="0"/>
                  </a:lnTo>
                  <a:lnTo>
                    <a:pt x="8763" y="324"/>
                  </a:lnTo>
                  <a:lnTo>
                    <a:pt x="0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AAA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任意多边形: 形状 35"/>
            <p:cNvSpPr/>
            <p:nvPr>
              <p:custDataLst>
                <p:tags r:id="rId8"/>
              </p:custDataLst>
            </p:nvPr>
          </p:nvSpPr>
          <p:spPr>
            <a:xfrm>
              <a:off x="26966" y="10686"/>
              <a:ext cx="620" cy="792"/>
            </a:xfrm>
            <a:custGeom>
              <a:avLst/>
              <a:gdLst>
                <a:gd name="connsiteX0" fmla="*/ 222587 w 228229"/>
                <a:gd name="connsiteY0" fmla="*/ 120936 h 260315"/>
                <a:gd name="connsiteX1" fmla="*/ 14943 w 228229"/>
                <a:gd name="connsiteY1" fmla="*/ 1017 h 260315"/>
                <a:gd name="connsiteX2" fmla="*/ 893 w 228229"/>
                <a:gd name="connsiteY2" fmla="*/ 4779 h 260315"/>
                <a:gd name="connsiteX3" fmla="*/ -488 w 228229"/>
                <a:gd name="connsiteY3" fmla="*/ 9875 h 260315"/>
                <a:gd name="connsiteX4" fmla="*/ -488 w 228229"/>
                <a:gd name="connsiteY4" fmla="*/ 249714 h 260315"/>
                <a:gd name="connsiteX5" fmla="*/ 9847 w 228229"/>
                <a:gd name="connsiteY5" fmla="*/ 259954 h 260315"/>
                <a:gd name="connsiteX6" fmla="*/ 14943 w 228229"/>
                <a:gd name="connsiteY6" fmla="*/ 258572 h 260315"/>
                <a:gd name="connsiteX7" fmla="*/ 222587 w 228229"/>
                <a:gd name="connsiteY7" fmla="*/ 138653 h 260315"/>
                <a:gd name="connsiteX8" fmla="*/ 226407 w 228229"/>
                <a:gd name="connsiteY8" fmla="*/ 124756 h 260315"/>
                <a:gd name="connsiteX9" fmla="*/ 222587 w 228229"/>
                <a:gd name="connsiteY9" fmla="*/ 120936 h 260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229" h="260315">
                  <a:moveTo>
                    <a:pt x="222587" y="120936"/>
                  </a:moveTo>
                  <a:lnTo>
                    <a:pt x="14943" y="1017"/>
                  </a:lnTo>
                  <a:cubicBezTo>
                    <a:pt x="10018" y="-1822"/>
                    <a:pt x="3732" y="-136"/>
                    <a:pt x="893" y="4779"/>
                  </a:cubicBezTo>
                  <a:cubicBezTo>
                    <a:pt x="-2" y="6331"/>
                    <a:pt x="-479" y="8084"/>
                    <a:pt x="-488" y="9875"/>
                  </a:cubicBezTo>
                  <a:lnTo>
                    <a:pt x="-488" y="249714"/>
                  </a:lnTo>
                  <a:cubicBezTo>
                    <a:pt x="-459" y="255391"/>
                    <a:pt x="4170" y="259982"/>
                    <a:pt x="9847" y="259954"/>
                  </a:cubicBezTo>
                  <a:cubicBezTo>
                    <a:pt x="11637" y="259944"/>
                    <a:pt x="13390" y="259468"/>
                    <a:pt x="14943" y="258572"/>
                  </a:cubicBezTo>
                  <a:lnTo>
                    <a:pt x="222587" y="138653"/>
                  </a:lnTo>
                  <a:cubicBezTo>
                    <a:pt x="227483" y="135871"/>
                    <a:pt x="229188" y="129642"/>
                    <a:pt x="226407" y="124756"/>
                  </a:cubicBezTo>
                  <a:cubicBezTo>
                    <a:pt x="225502" y="123165"/>
                    <a:pt x="224178" y="121841"/>
                    <a:pt x="222587" y="120936"/>
                  </a:cubicBezTo>
                  <a:close/>
                </a:path>
              </a:pathLst>
            </a:custGeom>
            <a:solidFill>
              <a:srgbClr val="10253F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9pPr>
            </a:lstStyle>
            <a:p>
              <a:endParaRPr lang="en-US">
                <a:solidFill>
                  <a:schemeClr val="tx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Text Box 79"/>
            <p:cNvSpPr txBox="1"/>
            <p:nvPr/>
          </p:nvSpPr>
          <p:spPr>
            <a:xfrm>
              <a:off x="-1560" y="6754"/>
              <a:ext cx="7363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Input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(right half &amp; 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subkey)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81" name="序号"/>
            <p:cNvSpPr/>
            <p:nvPr>
              <p:custDataLst>
                <p:tags r:id="rId9"/>
              </p:custDataLst>
            </p:nvPr>
          </p:nvSpPr>
          <p:spPr>
            <a:xfrm>
              <a:off x="972" y="5008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chemeClr val="accent5"/>
                  </a:solidFill>
                  <a:latin typeface="+mn-lt"/>
                  <a:sym typeface="+mn-lt"/>
                </a:rPr>
                <a:t>1</a:t>
              </a:r>
              <a:endParaRPr lang="en-US" sz="4400" b="1">
                <a:solidFill>
                  <a:schemeClr val="accent5"/>
                </a:solidFill>
                <a:latin typeface="+mn-lt"/>
                <a:sym typeface="+mn-lt"/>
              </a:endParaRPr>
            </a:p>
          </p:txBody>
        </p:sp>
        <p:sp>
          <p:nvSpPr>
            <p:cNvPr id="82" name="序号"/>
            <p:cNvSpPr/>
            <p:nvPr>
              <p:custDataLst>
                <p:tags r:id="rId10"/>
              </p:custDataLst>
            </p:nvPr>
          </p:nvSpPr>
          <p:spPr>
            <a:xfrm>
              <a:off x="6960" y="5016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10253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rgbClr val="10253F"/>
                  </a:solidFill>
                  <a:latin typeface="+mn-lt"/>
                  <a:sym typeface="+mn-lt"/>
                </a:rPr>
                <a:t>2</a:t>
              </a:r>
              <a:endParaRPr lang="en-US" sz="4400" b="1">
                <a:solidFill>
                  <a:srgbClr val="10253F"/>
                </a:solidFill>
                <a:latin typeface="+mn-lt"/>
                <a:sym typeface="+mn-lt"/>
              </a:endParaRPr>
            </a:p>
          </p:txBody>
        </p:sp>
        <p:sp>
          <p:nvSpPr>
            <p:cNvPr id="83" name="序号"/>
            <p:cNvSpPr/>
            <p:nvPr>
              <p:custDataLst>
                <p:tags r:id="rId11"/>
              </p:custDataLst>
            </p:nvPr>
          </p:nvSpPr>
          <p:spPr>
            <a:xfrm>
              <a:off x="14040" y="4843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chemeClr val="accent5"/>
                  </a:solidFill>
                  <a:latin typeface="+mn-lt"/>
                  <a:sym typeface="+mn-lt"/>
                </a:rPr>
                <a:t>3</a:t>
              </a:r>
              <a:endParaRPr lang="en-US" sz="4400" b="1">
                <a:solidFill>
                  <a:schemeClr val="accent5"/>
                </a:solidFill>
                <a:latin typeface="+mn-lt"/>
                <a:sym typeface="+mn-lt"/>
              </a:endParaRPr>
            </a:p>
          </p:txBody>
        </p:sp>
        <p:sp>
          <p:nvSpPr>
            <p:cNvPr id="84" name="序号"/>
            <p:cNvSpPr/>
            <p:nvPr>
              <p:custDataLst>
                <p:tags r:id="rId12"/>
              </p:custDataLst>
            </p:nvPr>
          </p:nvSpPr>
          <p:spPr>
            <a:xfrm>
              <a:off x="17400" y="7920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10253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rgbClr val="10253F"/>
                  </a:solidFill>
                  <a:latin typeface="+mn-lt"/>
                  <a:sym typeface="+mn-lt"/>
                </a:rPr>
                <a:t>4</a:t>
              </a:r>
              <a:endParaRPr lang="en-US" sz="4400" b="1">
                <a:solidFill>
                  <a:srgbClr val="10253F"/>
                </a:solidFill>
                <a:latin typeface="+mn-lt"/>
                <a:sym typeface="+mn-lt"/>
              </a:endParaRPr>
            </a:p>
          </p:txBody>
        </p:sp>
        <p:sp>
          <p:nvSpPr>
            <p:cNvPr id="85" name="序号"/>
            <p:cNvSpPr/>
            <p:nvPr>
              <p:custDataLst>
                <p:tags r:id="rId13"/>
              </p:custDataLst>
            </p:nvPr>
          </p:nvSpPr>
          <p:spPr>
            <a:xfrm>
              <a:off x="10680" y="7860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chemeClr val="accent5"/>
                  </a:solidFill>
                  <a:latin typeface="+mn-lt"/>
                  <a:sym typeface="+mn-lt"/>
                </a:rPr>
                <a:t>5</a:t>
              </a:r>
              <a:endParaRPr lang="en-US" sz="4400" b="1">
                <a:solidFill>
                  <a:schemeClr val="accent5"/>
                </a:solidFill>
                <a:latin typeface="+mn-lt"/>
                <a:sym typeface="+mn-lt"/>
              </a:endParaRPr>
            </a:p>
          </p:txBody>
        </p:sp>
        <p:sp>
          <p:nvSpPr>
            <p:cNvPr id="86" name="序号"/>
            <p:cNvSpPr/>
            <p:nvPr>
              <p:custDataLst>
                <p:tags r:id="rId14"/>
              </p:custDataLst>
            </p:nvPr>
          </p:nvSpPr>
          <p:spPr>
            <a:xfrm>
              <a:off x="14040" y="10207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10253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rgbClr val="10253F"/>
                  </a:solidFill>
                  <a:latin typeface="+mn-lt"/>
                  <a:sym typeface="+mn-lt"/>
                </a:rPr>
                <a:t>6</a:t>
              </a:r>
              <a:endParaRPr lang="en-US" sz="4400" b="1">
                <a:solidFill>
                  <a:srgbClr val="10253F"/>
                </a:solidFill>
                <a:latin typeface="+mn-lt"/>
                <a:sym typeface="+mn-lt"/>
              </a:endParaRPr>
            </a:p>
          </p:txBody>
        </p:sp>
        <p:sp>
          <p:nvSpPr>
            <p:cNvPr id="87" name="序号"/>
            <p:cNvSpPr/>
            <p:nvPr>
              <p:custDataLst>
                <p:tags r:id="rId15"/>
              </p:custDataLst>
            </p:nvPr>
          </p:nvSpPr>
          <p:spPr>
            <a:xfrm>
              <a:off x="20640" y="10380"/>
              <a:ext cx="1532" cy="1500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4400" b="1">
                  <a:solidFill>
                    <a:schemeClr val="accent5"/>
                  </a:solidFill>
                  <a:latin typeface="+mn-lt"/>
                  <a:sym typeface="+mn-lt"/>
                </a:rPr>
                <a:t>7</a:t>
              </a:r>
              <a:endParaRPr lang="en-US" sz="4400" b="1">
                <a:solidFill>
                  <a:schemeClr val="accent5"/>
                </a:solidFill>
                <a:latin typeface="+mn-lt"/>
                <a:sym typeface="+mn-lt"/>
              </a:endParaRPr>
            </a:p>
          </p:txBody>
        </p:sp>
        <p:sp>
          <p:nvSpPr>
            <p:cNvPr id="88" name="Text Box 87"/>
            <p:cNvSpPr txBox="1"/>
            <p:nvPr/>
          </p:nvSpPr>
          <p:spPr>
            <a:xfrm>
              <a:off x="5280" y="3780"/>
              <a:ext cx="5698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Expansion (R)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89" name="Text Box 88"/>
            <p:cNvSpPr txBox="1"/>
            <p:nvPr/>
          </p:nvSpPr>
          <p:spPr>
            <a:xfrm>
              <a:off x="12600" y="3382"/>
              <a:ext cx="6048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XOR R with SubKey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90" name="Text Box 89"/>
            <p:cNvSpPr txBox="1"/>
            <p:nvPr/>
          </p:nvSpPr>
          <p:spPr>
            <a:xfrm>
              <a:off x="16015" y="6660"/>
              <a:ext cx="4302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S-boxes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91" name="Text Box 90"/>
            <p:cNvSpPr txBox="1"/>
            <p:nvPr/>
          </p:nvSpPr>
          <p:spPr>
            <a:xfrm>
              <a:off x="9480" y="6754"/>
              <a:ext cx="4302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P-Table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92" name="Text Box 91"/>
            <p:cNvSpPr txBox="1"/>
            <p:nvPr/>
          </p:nvSpPr>
          <p:spPr>
            <a:xfrm>
              <a:off x="12480" y="11795"/>
              <a:ext cx="4302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XOR with left Half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93" name="Text Box 92"/>
            <p:cNvSpPr txBox="1"/>
            <p:nvPr/>
          </p:nvSpPr>
          <p:spPr>
            <a:xfrm>
              <a:off x="19320" y="12018"/>
              <a:ext cx="4302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Swap Halves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94" name="Text Box 93"/>
            <p:cNvSpPr txBox="1"/>
            <p:nvPr/>
          </p:nvSpPr>
          <p:spPr>
            <a:xfrm>
              <a:off x="24840" y="11820"/>
              <a:ext cx="4302" cy="1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en-US" sz="3600" b="1" dirty="0">
                  <a:solidFill>
                    <a:srgbClr val="2B1554"/>
                  </a:solidFill>
                  <a:sym typeface="+mn-lt"/>
                </a:rPr>
                <a:t>Repeat</a:t>
              </a:r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alt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4953000" y="342900"/>
            <a:ext cx="12608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16 Rounds of DES 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 6"/>
          <p:cNvGrpSpPr/>
          <p:nvPr>
            <p:custDataLst>
              <p:tags r:id="rId1"/>
            </p:custDataLst>
          </p:nvPr>
        </p:nvGrpSpPr>
        <p:grpSpPr>
          <a:xfrm>
            <a:off x="457200" y="4076700"/>
            <a:ext cx="17438370" cy="3277235"/>
            <a:chOff x="720" y="6540"/>
            <a:chExt cx="27462" cy="5161"/>
          </a:xfrm>
        </p:grpSpPr>
        <p:grpSp>
          <p:nvGrpSpPr>
            <p:cNvPr id="9" name="Group 8"/>
            <p:cNvGrpSpPr/>
            <p:nvPr>
              <p:custDataLst>
                <p:tags r:id="rId2"/>
              </p:custDataLst>
            </p:nvPr>
          </p:nvGrpSpPr>
          <p:grpSpPr>
            <a:xfrm>
              <a:off x="2160" y="6540"/>
              <a:ext cx="24109" cy="2172"/>
              <a:chOff x="2259" y="7392"/>
              <a:chExt cx="17789" cy="1572"/>
            </a:xfrm>
          </p:grpSpPr>
          <p:sp>
            <p:nvSpPr>
              <p:cNvPr id="10" name="椭圆"/>
              <p:cNvSpPr/>
              <p:nvPr>
                <p:custDataLst>
                  <p:tags r:id="rId3"/>
                </p:custDataLst>
              </p:nvPr>
            </p:nvSpPr>
            <p:spPr>
              <a:xfrm>
                <a:off x="2259" y="7449"/>
                <a:ext cx="1463" cy="1464"/>
              </a:xfrm>
              <a:prstGeom prst="ellipse">
                <a:avLst/>
              </a:prstGeom>
              <a:noFill/>
              <a:ln w="6350">
                <a:solidFill>
                  <a:srgbClr val="102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4"/>
                </p:custDataLst>
              </p:nvPr>
            </p:nvSpPr>
            <p:spPr>
              <a:xfrm>
                <a:off x="2395" y="7585"/>
                <a:ext cx="1193" cy="1193"/>
              </a:xfrm>
              <a:prstGeom prst="ellipse">
                <a:avLst/>
              </a:prstGeom>
              <a:solidFill>
                <a:srgbClr val="10253F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01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7" name="椭圆"/>
              <p:cNvSpPr/>
              <p:nvPr>
                <p:custDataLst>
                  <p:tags r:id="rId5"/>
                </p:custDataLst>
              </p:nvPr>
            </p:nvSpPr>
            <p:spPr>
              <a:xfrm>
                <a:off x="4988" y="7449"/>
                <a:ext cx="1463" cy="1464"/>
              </a:xfrm>
              <a:prstGeom prst="ellipse">
                <a:avLst/>
              </a:prstGeom>
              <a:noFill/>
              <a:ln w="6350">
                <a:gradFill flip="none" rotWithShape="1">
                  <a:gsLst>
                    <a:gs pos="0">
                      <a:schemeClr val="accent5">
                        <a:alpha val="100000"/>
                      </a:schemeClr>
                    </a:gs>
                    <a:gs pos="88000">
                      <a:schemeClr val="accent5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6"/>
                </p:custDataLst>
              </p:nvPr>
            </p:nvSpPr>
            <p:spPr>
              <a:xfrm>
                <a:off x="5124" y="7585"/>
                <a:ext cx="1193" cy="1193"/>
              </a:xfrm>
              <a:prstGeom prst="ellipse">
                <a:avLst/>
              </a:prstGeom>
              <a:solidFill>
                <a:schemeClr val="accent5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02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9" name="弧形 85"/>
              <p:cNvSpPr/>
              <p:nvPr>
                <p:custDataLst>
                  <p:tags r:id="rId7"/>
                </p:custDataLst>
              </p:nvPr>
            </p:nvSpPr>
            <p:spPr>
              <a:xfrm rot="16200000">
                <a:off x="4880" y="7392"/>
                <a:ext cx="1572" cy="1572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0" name="椭圆"/>
              <p:cNvSpPr/>
              <p:nvPr>
                <p:custDataLst>
                  <p:tags r:id="rId8"/>
                </p:custDataLst>
              </p:nvPr>
            </p:nvSpPr>
            <p:spPr>
              <a:xfrm>
                <a:off x="7719" y="7449"/>
                <a:ext cx="1463" cy="1464"/>
              </a:xfrm>
              <a:prstGeom prst="ellipse">
                <a:avLst/>
              </a:prstGeom>
              <a:noFill/>
              <a:ln w="6350">
                <a:solidFill>
                  <a:srgbClr val="102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1" name="椭圆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7855" y="7585"/>
                <a:ext cx="1193" cy="1193"/>
              </a:xfrm>
              <a:prstGeom prst="ellipse">
                <a:avLst/>
              </a:prstGeom>
              <a:solidFill>
                <a:srgbClr val="10253F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03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23" name="椭圆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448" y="7449"/>
                <a:ext cx="1463" cy="1464"/>
              </a:xfrm>
              <a:prstGeom prst="ellipse">
                <a:avLst/>
              </a:prstGeom>
              <a:noFill/>
              <a:ln w="6350">
                <a:gradFill flip="none" rotWithShape="1">
                  <a:gsLst>
                    <a:gs pos="0">
                      <a:schemeClr val="accent5">
                        <a:alpha val="100000"/>
                      </a:schemeClr>
                    </a:gs>
                    <a:gs pos="88000">
                      <a:schemeClr val="accent5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4" name="椭圆 2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583" y="7585"/>
                <a:ext cx="1193" cy="1193"/>
              </a:xfrm>
              <a:prstGeom prst="ellipse">
                <a:avLst/>
              </a:prstGeom>
              <a:solidFill>
                <a:schemeClr val="accent5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04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25" name="弧形 85"/>
              <p:cNvSpPr/>
              <p:nvPr>
                <p:custDataLst>
                  <p:tags r:id="rId12"/>
                </p:custDataLst>
              </p:nvPr>
            </p:nvSpPr>
            <p:spPr>
              <a:xfrm rot="16200000">
                <a:off x="10340" y="7392"/>
                <a:ext cx="1572" cy="1572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8" name="椭圆"/>
              <p:cNvSpPr/>
              <p:nvPr>
                <p:custDataLst>
                  <p:tags r:id="rId13"/>
                </p:custDataLst>
              </p:nvPr>
            </p:nvSpPr>
            <p:spPr>
              <a:xfrm>
                <a:off x="13179" y="7449"/>
                <a:ext cx="1463" cy="1464"/>
              </a:xfrm>
              <a:prstGeom prst="ellipse">
                <a:avLst/>
              </a:prstGeom>
              <a:noFill/>
              <a:ln w="6350">
                <a:solidFill>
                  <a:srgbClr val="102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565" tIns="82282" rIns="164565" bIns="82282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36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26" name="椭圆 2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3313" y="7585"/>
                <a:ext cx="1193" cy="1193"/>
              </a:xfrm>
              <a:prstGeom prst="ellipse">
                <a:avLst/>
              </a:prstGeom>
              <a:solidFill>
                <a:srgbClr val="10253F"/>
              </a:solidFill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rPr>
                  <a:t>05</a:t>
                </a:r>
                <a:endParaRPr lang="en-US" sz="3600" b="1">
                  <a:solidFill>
                    <a:schemeClr val="lt1">
                      <a:lumMod val="100000"/>
                    </a:schemeClr>
                  </a:solidFill>
                  <a:latin typeface="+mn-lt"/>
                </a:endParaRPr>
              </a:p>
            </p:txBody>
          </p:sp>
          <p:grpSp>
            <p:nvGrpSpPr>
              <p:cNvPr id="3" name="Group 2"/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15800" y="7392"/>
                <a:ext cx="1572" cy="1572"/>
                <a:chOff x="15800" y="7392"/>
                <a:chExt cx="1572" cy="1572"/>
              </a:xfrm>
            </p:grpSpPr>
            <p:sp>
              <p:nvSpPr>
                <p:cNvPr id="63" name="椭圆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5908" y="7449"/>
                  <a:ext cx="1463" cy="1464"/>
                </a:xfrm>
                <a:prstGeom prst="ellipse">
                  <a:avLst/>
                </a:prstGeom>
                <a:noFill/>
                <a:ln w="6350">
                  <a:gradFill flip="none" rotWithShape="1">
                    <a:gsLst>
                      <a:gs pos="0">
                        <a:schemeClr val="accent5">
                          <a:alpha val="100000"/>
                        </a:schemeClr>
                      </a:gs>
                      <a:gs pos="88000">
                        <a:schemeClr val="accent5">
                          <a:alpha val="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64565" tIns="82282" rIns="164565" bIns="82282"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36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9" name="椭圆 28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6043" y="7585"/>
                  <a:ext cx="1193" cy="1193"/>
                </a:xfrm>
                <a:prstGeom prst="ellipse">
                  <a:avLst/>
                </a:prstGeom>
                <a:solidFill>
                  <a:schemeClr val="accent5"/>
                </a:solidFill>
              </p:spPr>
              <p:txBody>
                <a:bodyPr wrap="none" lIns="0" tIns="0" rIns="0" bIns="0" rtlCol="0" anchor="ctr" anchorCtr="0">
                  <a:noAutofit/>
                </a:bodyPr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3600" b="1">
                      <a:solidFill>
                        <a:schemeClr val="lt1">
                          <a:lumMod val="100000"/>
                        </a:schemeClr>
                      </a:solidFill>
                      <a:latin typeface="+mn-lt"/>
                    </a:rPr>
                    <a:t>06</a:t>
                  </a:r>
                  <a:endPara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endParaRPr>
                </a:p>
              </p:txBody>
            </p:sp>
            <p:sp>
              <p:nvSpPr>
                <p:cNvPr id="62" name="弧形 85"/>
                <p:cNvSpPr/>
                <p:nvPr>
                  <p:custDataLst>
                    <p:tags r:id="rId18"/>
                  </p:custDataLst>
                </p:nvPr>
              </p:nvSpPr>
              <p:spPr>
                <a:xfrm rot="16200000">
                  <a:off x="15800" y="7392"/>
                  <a:ext cx="1572" cy="1572"/>
                </a:xfrm>
                <a:prstGeom prst="arc">
                  <a:avLst>
                    <a:gd name="adj1" fmla="val 2657162"/>
                    <a:gd name="adj2" fmla="val 8176062"/>
                  </a:avLst>
                </a:prstGeom>
                <a:noFill/>
                <a:ln w="38100" cap="rnd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36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</p:grpSp>
          <p:cxnSp>
            <p:nvCxnSpPr>
              <p:cNvPr id="30" name="直接连接符 29"/>
              <p:cNvCxnSpPr>
                <a:endCxn id="17" idx="2"/>
              </p:cNvCxnSpPr>
              <p:nvPr>
                <p:custDataLst>
                  <p:tags r:id="rId19"/>
                </p:custDataLst>
              </p:nvPr>
            </p:nvCxnSpPr>
            <p:spPr>
              <a:xfrm>
                <a:off x="3752" y="8177"/>
                <a:ext cx="1236" cy="4"/>
              </a:xfrm>
              <a:prstGeom prst="line">
                <a:avLst/>
              </a:prstGeom>
              <a:ln w="15875">
                <a:solidFill>
                  <a:schemeClr val="accent5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6483" y="8179"/>
                <a:ext cx="1236" cy="4"/>
              </a:xfrm>
              <a:prstGeom prst="line">
                <a:avLst/>
              </a:prstGeom>
              <a:ln w="15875">
                <a:solidFill>
                  <a:schemeClr val="accent4">
                    <a:shade val="95000"/>
                    <a:satMod val="10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9212" y="8179"/>
                <a:ext cx="1236" cy="4"/>
              </a:xfrm>
              <a:prstGeom prst="line">
                <a:avLst/>
              </a:prstGeom>
              <a:ln w="15875">
                <a:solidFill>
                  <a:schemeClr val="accent5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11942" y="8179"/>
                <a:ext cx="1236" cy="4"/>
              </a:xfrm>
              <a:prstGeom prst="line">
                <a:avLst/>
              </a:prstGeom>
              <a:ln w="15875">
                <a:solidFill>
                  <a:srgbClr val="7D60A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14672" y="8179"/>
                <a:ext cx="1236" cy="4"/>
              </a:xfrm>
              <a:prstGeom prst="line">
                <a:avLst/>
              </a:prstGeom>
              <a:ln w="15875">
                <a:solidFill>
                  <a:schemeClr val="accent5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" name="Group 3"/>
              <p:cNvGrpSpPr/>
              <p:nvPr>
                <p:custDataLst>
                  <p:tags r:id="rId24"/>
                </p:custDataLst>
              </p:nvPr>
            </p:nvGrpSpPr>
            <p:grpSpPr>
              <a:xfrm>
                <a:off x="18585" y="7449"/>
                <a:ext cx="1463" cy="1464"/>
                <a:chOff x="15908" y="7449"/>
                <a:chExt cx="1463" cy="1464"/>
              </a:xfrm>
            </p:grpSpPr>
            <p:sp>
              <p:nvSpPr>
                <p:cNvPr id="5" name="椭圆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5908" y="7449"/>
                  <a:ext cx="1463" cy="1464"/>
                </a:xfrm>
                <a:prstGeom prst="ellipse">
                  <a:avLst/>
                </a:prstGeom>
                <a:noFill/>
                <a:ln w="6350">
                  <a:solidFill>
                    <a:srgbClr val="1025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64565" tIns="82282" rIns="164565" bIns="82282"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36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" name="椭圆 2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6043" y="7585"/>
                  <a:ext cx="1193" cy="1193"/>
                </a:xfrm>
                <a:prstGeom prst="ellipse">
                  <a:avLst/>
                </a:prstGeom>
                <a:solidFill>
                  <a:srgbClr val="10253F"/>
                </a:solidFill>
              </p:spPr>
              <p:txBody>
                <a:bodyPr wrap="none" lIns="0" tIns="0" rIns="0" bIns="0" rtlCol="0" anchor="ctr" anchorCtr="0">
                  <a:noAutofit/>
                </a:bodyPr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3600" b="1">
                      <a:solidFill>
                        <a:schemeClr val="lt1">
                          <a:lumMod val="100000"/>
                        </a:schemeClr>
                      </a:solidFill>
                      <a:latin typeface="+mn-lt"/>
                    </a:rPr>
                    <a:t>06</a:t>
                  </a:r>
                  <a:endParaRPr lang="en-US" sz="3600" b="1">
                    <a:solidFill>
                      <a:schemeClr val="lt1">
                        <a:lumMod val="100000"/>
                      </a:schemeClr>
                    </a:solidFill>
                    <a:latin typeface="+mn-lt"/>
                  </a:endParaRPr>
                </a:p>
              </p:txBody>
            </p:sp>
          </p:grpSp>
          <p:cxnSp>
            <p:nvCxnSpPr>
              <p:cNvPr id="8" name="直接连接符 75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17400" y="8173"/>
                <a:ext cx="1236" cy="4"/>
              </a:xfrm>
              <a:prstGeom prst="line">
                <a:avLst/>
              </a:prstGeom>
              <a:ln w="15875">
                <a:solidFill>
                  <a:srgbClr val="7D60A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 Box 67"/>
            <p:cNvSpPr txBox="1"/>
            <p:nvPr/>
          </p:nvSpPr>
          <p:spPr>
            <a:xfrm>
              <a:off x="720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Plaintext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64-Bit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8542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Split into Halves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L</a:t>
              </a:r>
              <a:r>
                <a:rPr lang="en-US" sz="3600" b="1" baseline="-25000" dirty="0">
                  <a:solidFill>
                    <a:srgbClr val="2B1554"/>
                  </a:solidFill>
                  <a:sym typeface="+mn-lt"/>
                </a:rPr>
                <a:t>0</a:t>
              </a: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 &amp; R</a:t>
              </a:r>
              <a:r>
                <a:rPr lang="en-US" sz="3600" b="1" baseline="-25000" dirty="0">
                  <a:solidFill>
                    <a:srgbClr val="2B1554"/>
                  </a:solidFill>
                  <a:sym typeface="+mn-lt"/>
                </a:rPr>
                <a:t>0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5850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Final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Swap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23880" y="8940"/>
              <a:ext cx="4302" cy="2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Ciphertext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rgbClr val="2B1554"/>
                  </a:solidFill>
                  <a:sym typeface="+mn-lt"/>
                </a:rPr>
                <a:t>64-Bit </a:t>
              </a: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endParaRPr lang="en-US" sz="3600" b="1" dirty="0">
                <a:solidFill>
                  <a:srgbClr val="2B1554"/>
                </a:solidFill>
                <a:sym typeface="+mn-lt"/>
              </a:endParaRPr>
            </a:p>
            <a:p>
              <a:endParaRPr lang="en-US" sz="3600" b="1" dirty="0">
                <a:solidFill>
                  <a:srgbClr val="2B1554"/>
                </a:solidFill>
                <a:sym typeface="+mn-lt"/>
              </a:endParaRPr>
            </a:p>
          </p:txBody>
        </p:sp>
        <p:sp>
          <p:nvSpPr>
            <p:cNvPr id="73" name="Text Box 72"/>
            <p:cNvSpPr txBox="1"/>
            <p:nvPr/>
          </p:nvSpPr>
          <p:spPr>
            <a:xfrm>
              <a:off x="4800" y="8940"/>
              <a:ext cx="4302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Initial Permutation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12240" y="8940"/>
              <a:ext cx="4302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600" b="1" dirty="0">
                  <a:solidFill>
                    <a:srgbClr val="FF0000"/>
                  </a:solidFill>
                  <a:sym typeface="+mn-lt"/>
                </a:rPr>
                <a:t>24 </a:t>
              </a:r>
              <a:endParaRPr lang="en-US" sz="3600" b="1" dirty="0">
                <a:solidFill>
                  <a:srgbClr val="FF0000"/>
                </a:solidFill>
                <a:sym typeface="+mn-lt"/>
              </a:endParaRPr>
            </a:p>
            <a:p>
              <a:pPr algn="ctr"/>
              <a:r>
                <a:rPr lang="en-US" sz="3600" b="1" dirty="0">
                  <a:solidFill>
                    <a:srgbClr val="FF0000"/>
                  </a:solidFill>
                  <a:sym typeface="+mn-lt"/>
                </a:rPr>
                <a:t>Rounds</a:t>
              </a:r>
              <a:endParaRPr lang="en-US" sz="3600" b="1" dirty="0">
                <a:solidFill>
                  <a:srgbClr val="FF0000"/>
                </a:solidFill>
                <a:sym typeface="+mn-lt"/>
              </a:endParaRPr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9578" y="8940"/>
              <a:ext cx="4302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Final 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3600" b="1" dirty="0">
                  <a:solidFill>
                    <a:schemeClr val="accent5">
                      <a:lumMod val="50000"/>
                    </a:schemeClr>
                  </a:solidFill>
                  <a:sym typeface="+mn-lt"/>
                </a:rPr>
                <a:t>Permutation</a:t>
              </a:r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  <a:p>
              <a:endParaRPr lang="en-US" sz="3600" b="1" dirty="0">
                <a:solidFill>
                  <a:schemeClr val="accent5">
                    <a:lumMod val="50000"/>
                  </a:schemeClr>
                </a:solidFill>
                <a:sym typeface="+mn-lt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3581400" y="342900"/>
            <a:ext cx="12608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Extending to 24 Rounds 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" name="Table 13"/>
          <p:cNvGraphicFramePr/>
          <p:nvPr/>
        </p:nvGraphicFramePr>
        <p:xfrm>
          <a:off x="4724400" y="2324100"/>
          <a:ext cx="8912860" cy="545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953"/>
                <a:gridCol w="2970954"/>
                <a:gridCol w="2970953"/>
              </a:tblGrid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Metric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Before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16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After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24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Encryption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Decryption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Key Schedule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16 subkeys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24 subkeys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Overall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4917440" y="201930"/>
            <a:ext cx="12608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Time Complexity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  <p:sp>
        <p:nvSpPr>
          <p:cNvPr id="37" name="Freeform 6"/>
          <p:cNvSpPr/>
          <p:nvPr/>
        </p:nvSpPr>
        <p:spPr>
          <a:xfrm>
            <a:off x="-3885830" y="5448590"/>
            <a:ext cx="7671942" cy="8006771"/>
          </a:xfrm>
          <a:custGeom>
            <a:avLst/>
            <a:gdLst/>
            <a:ahLst/>
            <a:cxnLst/>
            <a:rect l="l" t="t" r="r" b="b"/>
            <a:pathLst>
              <a:path w="7671942" h="8006771">
                <a:moveTo>
                  <a:pt x="0" y="0"/>
                </a:moveTo>
                <a:lnTo>
                  <a:pt x="7671943" y="0"/>
                </a:lnTo>
                <a:lnTo>
                  <a:pt x="7671943" y="8006770"/>
                </a:lnTo>
                <a:lnTo>
                  <a:pt x="0" y="80067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5"/>
          <p:cNvSpPr/>
          <p:nvPr/>
        </p:nvSpPr>
        <p:spPr>
          <a:xfrm rot="1372593">
            <a:off x="14678023" y="-2331555"/>
            <a:ext cx="5416384" cy="5652772"/>
          </a:xfrm>
          <a:custGeom>
            <a:avLst/>
            <a:gdLst/>
            <a:ahLst/>
            <a:cxnLst/>
            <a:rect l="l" t="t" r="r" b="b"/>
            <a:pathLst>
              <a:path w="5416384" h="5652772">
                <a:moveTo>
                  <a:pt x="0" y="0"/>
                </a:moveTo>
                <a:lnTo>
                  <a:pt x="5416384" y="0"/>
                </a:lnTo>
                <a:lnTo>
                  <a:pt x="5416384" y="5652772"/>
                </a:lnTo>
                <a:lnTo>
                  <a:pt x="0" y="565277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rot="-5400000">
            <a:off x="-9924426" y="1886013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graphicFrame>
        <p:nvGraphicFramePr>
          <p:cNvPr id="14" name="Table 13"/>
          <p:cNvGraphicFramePr/>
          <p:nvPr/>
        </p:nvGraphicFramePr>
        <p:xfrm>
          <a:off x="4648200" y="2247900"/>
          <a:ext cx="8912860" cy="545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953"/>
                <a:gridCol w="2970954"/>
                <a:gridCol w="2970953"/>
              </a:tblGrid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Metric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38AAA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Before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16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38AAA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After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24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38AAAC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SubKey Storage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96 bytes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144 bytes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Block Size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64 bits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64 bits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Key Storage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56 bits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56 bits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Overall</a:t>
                      </a:r>
                      <a:endParaRPr 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O(1)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4765040" y="125730"/>
            <a:ext cx="12608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Space Complexity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  <p:sp>
        <p:nvSpPr>
          <p:cNvPr id="37" name="Freeform 6"/>
          <p:cNvSpPr/>
          <p:nvPr/>
        </p:nvSpPr>
        <p:spPr>
          <a:xfrm>
            <a:off x="-3886465" y="5296190"/>
            <a:ext cx="7671942" cy="8006771"/>
          </a:xfrm>
          <a:custGeom>
            <a:avLst/>
            <a:gdLst/>
            <a:ahLst/>
            <a:cxnLst/>
            <a:rect l="l" t="t" r="r" b="b"/>
            <a:pathLst>
              <a:path w="7671942" h="8006771">
                <a:moveTo>
                  <a:pt x="0" y="0"/>
                </a:moveTo>
                <a:lnTo>
                  <a:pt x="7671943" y="0"/>
                </a:lnTo>
                <a:lnTo>
                  <a:pt x="7671943" y="8006770"/>
                </a:lnTo>
                <a:lnTo>
                  <a:pt x="0" y="80067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72593">
            <a:off x="14678023" y="-2331555"/>
            <a:ext cx="5416384" cy="5652772"/>
          </a:xfrm>
          <a:custGeom>
            <a:avLst/>
            <a:gdLst/>
            <a:ahLst/>
            <a:cxnLst/>
            <a:rect l="l" t="t" r="r" b="b"/>
            <a:pathLst>
              <a:path w="5416384" h="5652772">
                <a:moveTo>
                  <a:pt x="0" y="0"/>
                </a:moveTo>
                <a:lnTo>
                  <a:pt x="5416384" y="0"/>
                </a:lnTo>
                <a:lnTo>
                  <a:pt x="5416384" y="5652772"/>
                </a:lnTo>
                <a:lnTo>
                  <a:pt x="0" y="565277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rot="-5400000">
            <a:off x="-9924426" y="1886013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4399915" y="1866900"/>
          <a:ext cx="9313545" cy="6741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3740"/>
                <a:gridCol w="2955290"/>
                <a:gridCol w="3104515"/>
              </a:tblGrid>
              <a:tr h="1336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Metric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Before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16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After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24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</a:tr>
              <a:tr h="1087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Number of operations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Lower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Higher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87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Encryption speed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Faster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~50% slower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87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Decryption speed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Faster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~50% slower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57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CPU usage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>
                          <a:sym typeface="+mn-ea"/>
                        </a:rPr>
                        <a:t>Lower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Higher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87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Power consumption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Lower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Higher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5908040" y="49530"/>
            <a:ext cx="64846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Performance 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  <p:sp>
        <p:nvSpPr>
          <p:cNvPr id="5" name="Freeform 5"/>
          <p:cNvSpPr/>
          <p:nvPr/>
        </p:nvSpPr>
        <p:spPr>
          <a:xfrm rot="1372593">
            <a:off x="14601823" y="-2150580"/>
            <a:ext cx="5416384" cy="5652772"/>
          </a:xfrm>
          <a:custGeom>
            <a:avLst/>
            <a:gdLst/>
            <a:ahLst/>
            <a:cxnLst/>
            <a:rect l="l" t="t" r="r" b="b"/>
            <a:pathLst>
              <a:path w="5416384" h="5652772">
                <a:moveTo>
                  <a:pt x="0" y="0"/>
                </a:moveTo>
                <a:lnTo>
                  <a:pt x="5416384" y="0"/>
                </a:lnTo>
                <a:lnTo>
                  <a:pt x="5416384" y="5652772"/>
                </a:lnTo>
                <a:lnTo>
                  <a:pt x="0" y="5652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/>
          </a:p>
        </p:txBody>
      </p:sp>
      <p:sp>
        <p:nvSpPr>
          <p:cNvPr id="37" name="Freeform 6"/>
          <p:cNvSpPr/>
          <p:nvPr/>
        </p:nvSpPr>
        <p:spPr>
          <a:xfrm>
            <a:off x="-3886465" y="5296190"/>
            <a:ext cx="7671942" cy="8006771"/>
          </a:xfrm>
          <a:custGeom>
            <a:avLst/>
            <a:gdLst/>
            <a:ahLst/>
            <a:cxnLst/>
            <a:rect l="l" t="t" r="r" b="b"/>
            <a:pathLst>
              <a:path w="7671942" h="8006771">
                <a:moveTo>
                  <a:pt x="0" y="0"/>
                </a:moveTo>
                <a:lnTo>
                  <a:pt x="7671943" y="0"/>
                </a:lnTo>
                <a:lnTo>
                  <a:pt x="7671943" y="8006770"/>
                </a:lnTo>
                <a:lnTo>
                  <a:pt x="0" y="8006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rot="-5400000">
            <a:off x="-9924426" y="1886013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graphicFrame>
        <p:nvGraphicFramePr>
          <p:cNvPr id="14" name="Table 13"/>
          <p:cNvGraphicFramePr/>
          <p:nvPr/>
        </p:nvGraphicFramePr>
        <p:xfrm>
          <a:off x="4572000" y="2019300"/>
          <a:ext cx="8912860" cy="6584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953"/>
                <a:gridCol w="2970954"/>
                <a:gridCol w="2970953"/>
              </a:tblGrid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Metric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38AAA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Before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16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38AAA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000"/>
                        <a:t>After</a:t>
                      </a:r>
                      <a:endParaRPr lang="en-US" sz="4000"/>
                    </a:p>
                    <a:p>
                      <a:pPr algn="ctr">
                        <a:buNone/>
                      </a:pPr>
                      <a:r>
                        <a:rPr lang="en-US" sz="4000"/>
                        <a:t>24 rounds</a:t>
                      </a:r>
                      <a:endParaRPr lang="en-US" sz="40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38AAAC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Differential cryptanalysis resistance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Strong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Stronger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Linear cryptanalysis resistance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Strong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Stronger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Brute-force resistance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Weak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Weak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036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Key size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56-bit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3200"/>
                        <a:t>56-bit</a:t>
                      </a:r>
                      <a:endParaRPr lang="en-US" altLang="en-US" sz="3200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6822440" y="-26670"/>
            <a:ext cx="64846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000">
                <a:latin typeface="Ebrima" panose="02000000000000000000" charset="0"/>
                <a:cs typeface="Ebrima" panose="02000000000000000000" charset="0"/>
              </a:rPr>
              <a:t>Security </a:t>
            </a:r>
            <a:endParaRPr lang="en-US" sz="8000">
              <a:latin typeface="Ebrima" panose="02000000000000000000" charset="0"/>
              <a:cs typeface="Ebrima" panose="02000000000000000000" charset="0"/>
            </a:endParaRPr>
          </a:p>
        </p:txBody>
      </p:sp>
      <p:sp>
        <p:nvSpPr>
          <p:cNvPr id="5" name="Freeform 5"/>
          <p:cNvSpPr/>
          <p:nvPr/>
        </p:nvSpPr>
        <p:spPr>
          <a:xfrm rot="1372593">
            <a:off x="14830423" y="-2331555"/>
            <a:ext cx="5416384" cy="5652772"/>
          </a:xfrm>
          <a:custGeom>
            <a:avLst/>
            <a:gdLst/>
            <a:ahLst/>
            <a:cxnLst/>
            <a:rect l="l" t="t" r="r" b="b"/>
            <a:pathLst>
              <a:path w="5416384" h="5652772">
                <a:moveTo>
                  <a:pt x="0" y="0"/>
                </a:moveTo>
                <a:lnTo>
                  <a:pt x="5416384" y="0"/>
                </a:lnTo>
                <a:lnTo>
                  <a:pt x="5416384" y="5652772"/>
                </a:lnTo>
                <a:lnTo>
                  <a:pt x="0" y="565277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6"/>
          <p:cNvSpPr/>
          <p:nvPr/>
        </p:nvSpPr>
        <p:spPr>
          <a:xfrm>
            <a:off x="-3886465" y="5296190"/>
            <a:ext cx="7671942" cy="8006771"/>
          </a:xfrm>
          <a:custGeom>
            <a:avLst/>
            <a:gdLst/>
            <a:ahLst/>
            <a:cxnLst/>
            <a:rect l="l" t="t" r="r" b="b"/>
            <a:pathLst>
              <a:path w="7671942" h="8006771">
                <a:moveTo>
                  <a:pt x="0" y="0"/>
                </a:moveTo>
                <a:lnTo>
                  <a:pt x="7671943" y="0"/>
                </a:lnTo>
                <a:lnTo>
                  <a:pt x="7671943" y="8006770"/>
                </a:lnTo>
                <a:lnTo>
                  <a:pt x="0" y="80067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149532" flipH="1">
            <a:off x="-2530930" y="5039799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9211" flipH="1">
            <a:off x="14972210" y="-3031279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2"/>
          <p:cNvSpPr txBox="1"/>
          <p:nvPr/>
        </p:nvSpPr>
        <p:spPr>
          <a:xfrm>
            <a:off x="1066800" y="3771900"/>
            <a:ext cx="15967710" cy="50444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11325"/>
              </a:lnSpc>
            </a:pPr>
            <a:r>
              <a:rPr lang="en-US" sz="96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T</a:t>
            </a:r>
            <a:r>
              <a:rPr lang="en-US" sz="96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H</a:t>
            </a:r>
            <a:r>
              <a:rPr lang="en-US" sz="96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A</a:t>
            </a:r>
            <a:r>
              <a:rPr lang="en-US" sz="96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N</a:t>
            </a:r>
            <a:r>
              <a:rPr lang="en-US" sz="96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K </a:t>
            </a:r>
            <a:r>
              <a:rPr lang="en-US" sz="96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Y</a:t>
            </a:r>
            <a:r>
              <a:rPr lang="en-US" sz="9600">
                <a:solidFill>
                  <a:schemeClr val="accent5">
                    <a:lumMod val="75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O</a:t>
            </a:r>
            <a:r>
              <a:rPr lang="en-US" sz="9600">
                <a:solidFill>
                  <a:srgbClr val="001D4A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Neo Tech Bold" panose="020B0804030504040204"/>
              </a:rPr>
              <a:t>U</a:t>
            </a:r>
            <a:endParaRPr lang="en-US" sz="9600">
              <a:solidFill>
                <a:srgbClr val="001D4A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Neo Tech Bold" panose="020B08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3_3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3_3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8,9,8,9,8,9]}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4_3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4_3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8,9,8,9,8,9]}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3_1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2_3_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gradient&quot;:[{&quot;brightness&quot;:0,&quot;colorType&quot;:1,&quot;foreColorIndex&quot;:5,&quot;pos&quot;:0.3899999856948852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3"/>
  <p:tag name="KSO_WM_DIAGRAM_USE_COLOR_VALUE" val="{&quot;color_scheme&quot;:1,&quot;color_type&quot;:1,&quot;theme_color_indexes&quot;:[8,9,8,9,8,9]}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2_3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2_3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8,9,8,9,8,9]}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1_2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2_1_2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gradient&quot;:[{&quot;brightness&quot;:0,&quot;colorType&quot;:1,&quot;foreColorIndex&quot;:5,&quot;pos&quot;:0.3899999856948852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3"/>
  <p:tag name="KSO_WM_DIAGRAM_USE_COLOR_VALUE" val="{&quot;color_scheme&quot;:1,&quot;color_type&quot;:1,&quot;theme_color_indexes&quot;:[8,9,8,9,8,9]}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2_1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2_2_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gradient&quot;:[{&quot;brightness&quot;:0,&quot;colorType&quot;:1,&quot;foreColorIndex&quot;:8,&quot;pos&quot;:0.3899999856948852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3"/>
  <p:tag name="KSO_WM_DIAGRAM_USE_COLOR_VALUE" val="{&quot;color_scheme&quot;:1,&quot;color_type&quot;:1,&quot;theme_color_indexes&quot;:[8,9,8,9,8,9]}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5_3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5_3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8,9,8,9,8,9]}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4_1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2_4_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gradient&quot;:[{&quot;brightness&quot;:0,&quot;colorType&quot;:1,&quot;foreColorIndex&quot;:8,&quot;pos&quot;:0.3899999856948852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3"/>
  <p:tag name="KSO_WM_DIAGRAM_USE_COLOR_VALUE" val="{&quot;color_scheme&quot;:1,&quot;color_type&quot;:1,&quot;theme_color_indexes&quot;:[8,9,8,9,8,9]}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5_1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5_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}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6_3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6_3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8,9,8,9,8,9]}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5_2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2_5_2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gradient&quot;:[{&quot;brightness&quot;:0,&quot;colorType&quot;:1,&quot;foreColorIndex&quot;:5,&quot;pos&quot;:0.3899999856948852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3"/>
  <p:tag name="KSO_WM_DIAGRAM_USE_COLOR_VALUE" val="{&quot;color_scheme&quot;:1,&quot;color_type&quot;:1,&quot;theme_color_indexes&quot;:[8,9,8,9,8,9]}"/>
</p:tagLst>
</file>

<file path=ppt/tags/tag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69_5*m_h_i*2_6_2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6_2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8,&quot;pos&quot;:1,&quot;transparency&quot;:1},{&quot;brightness&quot;:0,&quot;colorType&quot;:1,&quot;foreColorIndex&quot;:8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2_6_1"/>
  <p:tag name="KSO_WM_UNIT_ID" val="diagram20238169_5*m_h_i*2_6_1"/>
  <p:tag name="KSO_WM_TEMPLATE_CATEGORY" val="diagram"/>
  <p:tag name="KSO_WM_TEMPLATE_INDEX" val="20238169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gradient&quot;:[{&quot;brightness&quot;:0,&quot;colorType&quot;:1,&quot;foreColorIndex&quot;:8,&quot;pos&quot;:0.3899999856948852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.4"/>
  <p:tag name="KSO_WM_UNIT_PRESET_TEXT" val="06"/>
  <p:tag name="KSO_WM_UNIT_FILL_TYPE" val="3"/>
  <p:tag name="KSO_WM_DIAGRAM_USE_COLOR_VALUE" val="{&quot;color_scheme&quot;:1,&quot;color_type&quot;:1,&quot;theme_color_indexes&quot;:[8,9,8,9,8,9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69_5*m_h_i*2_6_2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6_2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8,&quot;pos&quot;:1,&quot;transparency&quot;:1},{&quot;brightness&quot;:0,&quot;colorType&quot;:1,&quot;foreColorIndex&quot;:8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69_5*m_h_i*2_6_2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6_2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8,&quot;pos&quot;:1,&quot;transparency&quot;:1},{&quot;brightness&quot;:0,&quot;colorType&quot;:1,&quot;foreColorIndex&quot;:8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69_5*m_h_i*2_5_1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5_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69_5*m_h_i*2_5_1"/>
  <p:tag name="KSO_WM_TEMPLATE_CATEGORY" val="diagram"/>
  <p:tag name="KSO_WM_TEMPLATE_INDEX" val="20238169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2_5_1"/>
  <p:tag name="KSO_WM_DIAGRAM_MAX_ITEMCNT" val="6"/>
  <p:tag name="KSO_WM_DIAGRAM_MIN_ITEMCNT" val="2"/>
  <p:tag name="KSO_WM_DIAGRAM_VIRTUALLY_FRAME" val="{&quot;height&quot;:937.800006103515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}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8195_5*m_h_f*1_5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8195_5*m_h_f*1_6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8195_5*m_h_f*1_3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2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8195_5*m_h_f*1_4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2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8195_5*m_h_f*1_2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8195_5*m_h_f*1_1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8195_5*m_h_a*1_5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1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8195_5*m_h_a*1_6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1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8195_5*m_h_a*1_3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8195_5*m_h_a*1_4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8195_5*m_h_a*1_1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4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3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5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6_3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6_3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2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1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8195_5*m_h_a*1_2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8195_5*m_h_i*1_2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2"/>
  <p:tag name="KSO_WM_UNIT_LINE_FORE_SCHEMECOLOR_INDEX" val="6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8195_5*m_h_i*1_3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3"/>
  <p:tag name="KSO_WM_UNIT_LINE_FORE_SCHEMECOLOR_INDEX" val="7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8195_5*m_h_i*1_4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4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8195_5*m_h_i*1_5_1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5"/>
  <p:tag name="KSO_WM_UNIT_LINE_FORE_SCHEMECOLOR_INDEX" val="9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6_2"/>
  <p:tag name="KSO_WM_UNIT_ID" val="diagram20238195_5*m_h_i*1_6_2"/>
  <p:tag name="KSO_WM_TEMPLATE_CATEGORY" val="diagram"/>
  <p:tag name="KSO_WM_TEMPLATE_INDEX" val="2023819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6"/>
  <p:tag name="KSO_WM_UNIT_LINE_FORE_SCHEMECOLOR_INDEX" val="1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1_6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6_1"/>
  <p:tag name="KSO_WM_DIAGRAM_MAX_ITEMCNT" val="6"/>
  <p:tag name="KSO_WM_DIAGRAM_MIN_ITEMCNT" val="2"/>
  <p:tag name="KSO_WM_DIAGRAM_VIRTUALLY_FRAME" val="{&quot;height&quot;:1205.4250424218367,&quot;left&quot;:-14.35,&quot;top&quot;:-9.100003051757813,&quot;width&quot;:1429.3249877929698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8195_5*m_h_i*1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6.15000000000003,&quot;left&quot;:251.375,&quot;top&quot;:285.57503937007874,&quot;width&quot;:937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8195_5*m_h_i*1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6.15000000000003,&quot;left&quot;:251.375,&quot;top&quot;:285.57503937007874,&quot;width&quot;:937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8195_5*m_h_i*1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6.15000000000003,&quot;left&quot;:251.375,&quot;top&quot;:285.57503937007874,&quot;width&quot;:937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8195_5*m_h_i*1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6.15000000000003,&quot;left&quot;:251.375,&quot;top&quot;:285.57503937007874,&quot;width&quot;:937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8195_5*m_h_i*1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6.15000000000003,&quot;left&quot;:251.375,&quot;top&quot;:285.57503937007874,&quot;width&quot;:937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8195_5*m_h_i*1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6.15000000000003,&quot;left&quot;:251.375,&quot;top&quot;:285.57503937007874,&quot;width&quot;:937.250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VIRTUALLY_FRAME" val="{&quot;height&quot;:411.65,&quot;left&quot;:36,&quot;top&quot;:205.1,&quot;width&quot;:1373.1}"/>
</p:tagLst>
</file>

<file path=ppt/tags/tag49.xml><?xml version="1.0" encoding="utf-8"?>
<p:tagLst xmlns:p="http://schemas.openxmlformats.org/presentationml/2006/main">
  <p:tag name="KSO_WM_DIAGRAM_VIRTUALLY_FRAME" val="{&quot;height&quot;:411.65,&quot;left&quot;:67.9,&quot;top&quot;:205.1,&quot;width&quot;:1313.3}"/>
</p:tagLst>
</file>

<file path=ppt/tags/tag50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8212_4*m_h_i*1_1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51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8212_4*m_h_i*1_1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5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8212_4*m_h_i*1_2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53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8212_4*m_h_i*1_2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54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38212_4*m_h_i*1_2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5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8212_4*m_h_i*1_3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56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8212_4*m_h_i*1_3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5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8212_4*m_h_i*1_4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58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8212_4*m_h_i*1_4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59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20238212_4*m_h_i*1_4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60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diagram20238212_4*m_h_i*1_5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61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5_1"/>
  <p:tag name="KSO_WM_UNIT_ID" val="diagram20238212_4*m_h_i*1_5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62.xml><?xml version="1.0" encoding="utf-8"?>
<p:tagLst xmlns:p="http://schemas.openxmlformats.org/presentationml/2006/main">
  <p:tag name="KSO_WM_DIAGRAM_VIRTUALLY_FRAME" val="{&quot;height&quot;:389.91645669291336,&quot;left&quot;:67.92488188976378,&quot;top&quot;:220.9542519685039,&quot;width&quot;:849.6501608348456}"/>
</p:tagLst>
</file>

<file path=ppt/tags/tag6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3"/>
  <p:tag name="KSO_WM_UNIT_ID" val="diagram20238212_4*m_h_i*1_6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6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8212_4*m_h_i*1_6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6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4"/>
  <p:tag name="KSO_WM_UNIT_ID" val="diagram20238212_4*m_h_i*1_6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66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8212_4*m_h_i*1_2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6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8212_4*m_h_i*1_3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6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8212_4*m_h_i*1_4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69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diagram20238212_4*m_h_i*1_5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70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8212_4*m_h_i*1_6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71.xml><?xml version="1.0" encoding="utf-8"?>
<p:tagLst xmlns:p="http://schemas.openxmlformats.org/presentationml/2006/main">
  <p:tag name="KSO_WM_DIAGRAM_VIRTUALLY_FRAME" val="{&quot;height&quot;:389.91645669291336,&quot;left&quot;:67.92488188976378,&quot;top&quot;:220.9542519685039,&quot;width&quot;:849.6501608348456}"/>
</p:tagLst>
</file>

<file path=ppt/tags/tag7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389.91645669291336,&quot;left&quot;:67.92488188976378,&quot;top&quot;:220.9542519685039,&quot;width&quot;:849.650160834845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3"/>
  <p:tag name="KSO_WM_UNIT_ID" val="diagram20238212_4*m_h_i*1_6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389.91645669291336,&quot;left&quot;:67.92488188976378,&quot;top&quot;:220.9542519685039,&quot;width&quot;:849.65016083484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8212_4*m_h_i*1_6_1"/>
  <p:tag name="KSO_WM_TEMPLATE_CATEGORY" val="diagram"/>
  <p:tag name="KSO_WM_TEMPLATE_INDEX" val="20238212"/>
  <p:tag name="KSO_WM_UNIT_LAYERLEVEL" val="1_1_1"/>
  <p:tag name="KSO_WM_TAG_VERSION" val="3.0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389.91645669291336,&quot;left&quot;:67.92488188976378,&quot;top&quot;:220.9542519685039,&quot;width&quot;:849.650160834845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8212_4*m_h_i*1_6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SLIDE_ITEM_CNT" val="6"/>
</p:tagLst>
</file>

<file path=ppt/tags/tag76.xml><?xml version="1.0" encoding="utf-8"?>
<p:tagLst xmlns:p="http://schemas.openxmlformats.org/presentationml/2006/main">
  <p:tag name="KSO_WM_DIAGRAM_VIRTUALLY_FRAME" val="{&quot;height&quot;:677.35,&quot;left&quot;:-78,&quot;top&quot;:73.97503937007878,&quot;width&quot;:1535.1}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4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4_2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3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3_2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5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5_2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6_3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6_3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2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2_2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1_2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1_2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5_5*m_h_i*3_6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3_6_1"/>
  <p:tag name="KSO_WM_DIAGRAM_MAX_ITEMCNT" val="6"/>
  <p:tag name="KSO_WM_DIAGRAM_MIN_ITEMCNT" val="2"/>
  <p:tag name="KSO_WM_DIAGRAM_VIRTUALLY_FRAME" val="{&quot;height&quot;:677.35,&quot;left&quot;:-78,&quot;top&quot;:73.97503937007878,&quot;width&quot;:1535.1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3_1_1"/>
  <p:tag name="KSO_WM_UNIT_ID" val="diagram20238195_5*m_h_i*3_1_1"/>
  <p:tag name="KSO_WM_TEMPLATE_CATEGORY" val="diagram"/>
  <p:tag name="KSO_WM_TEMPLATE_INDEX" val="2023819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677.35,&quot;left&quot;:73.375,&quot;top&quot;:73.97503937007878,&quot;width&quot;:1299.700039370079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PRESET_TEXT" val="1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91.xml><?xml version="1.0" encoding="utf-8"?>
<p:tagLst xmlns:p="http://schemas.openxmlformats.org/presentationml/2006/main">
  <p:tag name="KSO_WM_DIAGRAM_VIRTUALLY_FRAME" val="{&quot;height&quot;:411.65,&quot;left&quot;:36,&quot;top&quot;:205.1,&quot;width&quot;:1373.1}"/>
</p:tagLst>
</file>

<file path=ppt/tags/tag92.xml><?xml version="1.0" encoding="utf-8"?>
<p:tagLst xmlns:p="http://schemas.openxmlformats.org/presentationml/2006/main">
  <p:tag name="KSO_WM_DIAGRAM_VIRTUALLY_FRAME" val="{&quot;height&quot;:411.65,&quot;left&quot;:67.9,&quot;top&quot;:205.1,&quot;width&quot;:1313.3}"/>
</p:tagLst>
</file>

<file path=ppt/tags/tag9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8212_4*m_h_i*1_1_2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9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8212_4*m_h_i*1_1_1"/>
  <p:tag name="KSO_WM_TEMPLATE_CATEGORY" val="diagram"/>
  <p:tag name="KSO_WM_TEMPLATE_INDEX" val="20238212"/>
  <p:tag name="KSO_WM_UNIT_LAYERLEVEL" val="1_1_1"/>
  <p:tag name="KSO_WM_TAG_VERSION" val="3.0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9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8212_4*m_h_i*1_2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96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8212_4*m_h_i*1_2_1"/>
  <p:tag name="KSO_WM_TEMPLATE_CATEGORY" val="diagram"/>
  <p:tag name="KSO_WM_TEMPLATE_INDEX" val="20238212"/>
  <p:tag name="KSO_WM_UNIT_LAYERLEVEL" val="1_1_1"/>
  <p:tag name="KSO_WM_TAG_VERSION" val="3.0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9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38212_4*m_h_i*1_2_4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9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8212_4*m_h_i*1_3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99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8212_4*m_h_i*1_3_1"/>
  <p:tag name="KSO_WM_TEMPLATE_CATEGORY" val="diagram"/>
  <p:tag name="KSO_WM_TEMPLATE_INDEX" val="20238212"/>
  <p:tag name="KSO_WM_UNIT_LAYERLEVEL" val="1_1_1"/>
  <p:tag name="KSO_WM_TAG_VERSION" val="3.0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100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8212_4*m_h_i*1_4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101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8212_4*m_h_i*1_4_1"/>
  <p:tag name="KSO_WM_TEMPLATE_CATEGORY" val="diagram"/>
  <p:tag name="KSO_WM_TEMPLATE_INDEX" val="20238212"/>
  <p:tag name="KSO_WM_UNIT_LAYERLEVEL" val="1_1_1"/>
  <p:tag name="KSO_WM_TAG_VERSION" val="3.0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10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20238212_4*m_h_i*1_4_4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0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diagram20238212_4*m_h_i*1_5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10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5_1"/>
  <p:tag name="KSO_WM_UNIT_ID" val="diagram20238212_4*m_h_i*1_5_1"/>
  <p:tag name="KSO_WM_TEMPLATE_CATEGORY" val="diagram"/>
  <p:tag name="KSO_WM_TEMPLATE_INDEX" val="20238212"/>
  <p:tag name="KSO_WM_UNIT_LAYERLEVEL" val="1_1_1"/>
  <p:tag name="KSO_WM_TAG_VERSION" val="3.0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105.xml><?xml version="1.0" encoding="utf-8"?>
<p:tagLst xmlns:p="http://schemas.openxmlformats.org/presentationml/2006/main">
  <p:tag name="KSO_WM_DIAGRAM_VIRTUALLY_FRAME" val="{&quot;height&quot;:389.91645669291336,&quot;left&quot;:67.92488188976378,&quot;top&quot;:220.9542519685039,&quot;width&quot;:849.6501608348456}"/>
</p:tagLst>
</file>

<file path=ppt/tags/tag106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3"/>
  <p:tag name="KSO_WM_UNIT_ID" val="diagram20238212_4*m_h_i*1_6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theme_color_indexes&quot;:[8,9,8,9,8,9]}"/>
</p:tagLst>
</file>

<file path=ppt/tags/tag107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8212_4*m_h_i*1_6_1"/>
  <p:tag name="KSO_WM_TEMPLATE_CATEGORY" val="diagram"/>
  <p:tag name="KSO_WM_TEMPLATE_INDEX" val="20238212"/>
  <p:tag name="KSO_WM_UNIT_LAYERLEVEL" val="1_1_1"/>
  <p:tag name="KSO_WM_TAG_VERSION" val="3.0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theme_color_indexes&quot;:[8,9,8,9,8,9]}"/>
</p:tagLst>
</file>

<file path=ppt/tags/tag10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4"/>
  <p:tag name="KSO_WM_UNIT_ID" val="diagram20238212_4*m_h_i*1_6_4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09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8212_4*m_h_i*1_2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10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8212_4*m_h_i*1_3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11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8212_4*m_h_i*1_4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1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diagram20238212_4*m_h_i*1_5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1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411.65,&quot;left&quot;:36,&quot;top&quot;:205.1,&quot;width&quot;:1373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8212_4*m_h_i*1_6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theme_color_indexes&quot;:[8,9,8,9,8,9]}"/>
</p:tagLst>
</file>

<file path=ppt/tags/tag114.xml><?xml version="1.0" encoding="utf-8"?>
<p:tagLst xmlns:p="http://schemas.openxmlformats.org/presentationml/2006/main">
  <p:tag name="KSO_WM_DIAGRAM_VIRTUALLY_FRAME" val="{&quot;height&quot;:389.91645669291336,&quot;left&quot;:67.92488188976378,&quot;top&quot;:220.9542519685039,&quot;width&quot;:849.6501608348456}"/>
</p:tagLst>
</file>

<file path=ppt/tags/tag11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389.91645669291336,&quot;left&quot;:67.92488188976378,&quot;top&quot;:220.9542519685039,&quot;width&quot;:849.650160834845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3"/>
  <p:tag name="KSO_WM_UNIT_ID" val="diagram20238212_4*m_h_i*1_6_3"/>
  <p:tag name="KSO_WM_TEMPLATE_CATEGORY" val="diagram"/>
  <p:tag name="KSO_WM_TEMPLATE_INDEX" val="20238212"/>
  <p:tag name="KSO_WM_UNIT_LAYERLEVEL" val="1_1_1"/>
  <p:tag name="KSO_WM_TAG_VERSION" val="3.0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88"/>
  <p:tag name="KSO_WM_UNIT_LINE_FORE_SCHEMECOLOR_INDEX_2_TRANS" val="1"/>
  <p:tag name="KSO_WM_UNIT_LINE_GRADIENT_TYPE" val="0"/>
  <p:tag name="KSO_WM_UNIT_LINE_GRADIENT_ANGLE" val="45"/>
  <p:tag name="KSO_WM_UNIT_LINE_GRADIENT_Direction" val="0"/>
  <p:tag name="KSO_WM_UNIT_LINE_FILL_TYPE" val="5"/>
  <p:tag name="KSO_WM_UNIT_USESOURCEFORMAT_APPLY" val="1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389.91645669291336,&quot;left&quot;:67.92488188976378,&quot;top&quot;:220.9542519685039,&quot;width&quot;:849.65016083484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8212_4*m_h_i*1_6_1"/>
  <p:tag name="KSO_WM_TEMPLATE_CATEGORY" val="diagram"/>
  <p:tag name="KSO_WM_TEMPLATE_INDEX" val="20238212"/>
  <p:tag name="KSO_WM_UNIT_LAYERLEVEL" val="1_1_1"/>
  <p:tag name="KSO_WM_TAG_VERSION" val="3.0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389.91645669291336,&quot;left&quot;:67.92488188976378,&quot;top&quot;:220.9542519685039,&quot;width&quot;:849.650160834845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8212_4*m_h_i*1_6_2"/>
  <p:tag name="KSO_WM_TEMPLATE_CATEGORY" val="diagram"/>
  <p:tag name="KSO_WM_TEMPLATE_INDEX" val="20238212"/>
  <p:tag name="KSO_WM_UNIT_LAYERLEVEL" val="1_1_1"/>
  <p:tag name="KSO_WM_TAG_VERSION" val="3.0"/>
  <p:tag name="KSO_WM_UNIT_LINE_FORE_SCHEMECOLOR_INDEX" val="5"/>
  <p:tag name="KSO_WM_UNIT_LINE_FORE_SCHEMECOLOR_INDEX_BRIGHTNESS" val="0"/>
  <p:tag name="KSO_WM_UNIT_LINE_FILL_TYPE" val="2"/>
  <p:tag name="KSO_WM_UNIT_USESOURCEFORMAT_APPLY" val="1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TABLE_ENDDRAG_ORIGIN_RECT" val="733*530"/>
  <p:tag name="TABLE_ENDDRAG_RECT" val="322*201*733*530"/>
</p:tagLst>
</file>

<file path=ppt/tags/tag119.xml><?xml version="1.0" encoding="utf-8"?>
<p:tagLst xmlns:p="http://schemas.openxmlformats.org/presentationml/2006/main">
  <p:tag name="resource_record_key" val="{&quot;70&quot;:[3312411,3312351,3312363,3314137,3312565,3318475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1474</Words>
  <Application>WPS Presentation</Application>
  <PresentationFormat>On-screen Show (4:3)</PresentationFormat>
  <Paragraphs>357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53" baseType="lpstr">
      <vt:lpstr>Arial</vt:lpstr>
      <vt:lpstr>SimSun</vt:lpstr>
      <vt:lpstr>Wingdings</vt:lpstr>
      <vt:lpstr>Bahnschrift</vt:lpstr>
      <vt:lpstr>Microsoft YaHei</vt:lpstr>
      <vt:lpstr>Neo Tech Bold</vt:lpstr>
      <vt:lpstr>Yu Gothic UI Semibold</vt:lpstr>
      <vt:lpstr>Calibri</vt:lpstr>
      <vt:lpstr>Arial Unicode MS</vt:lpstr>
      <vt:lpstr>MS PGothic</vt:lpstr>
      <vt:lpstr>Segoe UI Black</vt:lpstr>
      <vt:lpstr>Bahnschrift SemiBold</vt:lpstr>
      <vt:lpstr>Cascadia Code</vt:lpstr>
      <vt:lpstr>Cascadia Code SemiBold</vt:lpstr>
      <vt:lpstr>Cascadia Mono SemiBold</vt:lpstr>
      <vt:lpstr>Comic Sans MS</vt:lpstr>
      <vt:lpstr>Bahnschrift Condensed</vt:lpstr>
      <vt:lpstr>Bahnschrift Light</vt:lpstr>
      <vt:lpstr>Bahnschrift Light Condensed</vt:lpstr>
      <vt:lpstr>Bahnschrift Light SemiCondensed</vt:lpstr>
      <vt:lpstr>Bahnschrift SemiBold Condensed</vt:lpstr>
      <vt:lpstr>Bahnschrift SemiBold SemiCondensed</vt:lpstr>
      <vt:lpstr>Bahnschrift SemiCondensed</vt:lpstr>
      <vt:lpstr>Bahnschrift SemiLight</vt:lpstr>
      <vt:lpstr>Bookshelf Symbol 7</vt:lpstr>
      <vt:lpstr>Bradley Hand ITC</vt:lpstr>
      <vt:lpstr>Calibri Light</vt:lpstr>
      <vt:lpstr>Cambria</vt:lpstr>
      <vt:lpstr>Cascadia Code SemiLight</vt:lpstr>
      <vt:lpstr>Cascadia Mono ExtraLight</vt:lpstr>
      <vt:lpstr>Cascadia Code Light</vt:lpstr>
      <vt:lpstr>Cascadia Code ExtraLight</vt:lpstr>
      <vt:lpstr>Cascadia Mono SemiLight</vt:lpstr>
      <vt:lpstr>Constantia</vt:lpstr>
      <vt:lpstr>Consolas</vt:lpstr>
      <vt:lpstr>Freestyle Script</vt:lpstr>
      <vt:lpstr>French Script MT</vt:lpstr>
      <vt:lpstr>Gabriola</vt:lpstr>
      <vt:lpstr>Franklin Gothic Medium</vt:lpstr>
      <vt:lpstr>Ebrima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Elif</cp:lastModifiedBy>
  <cp:revision>7</cp:revision>
  <dcterms:created xsi:type="dcterms:W3CDTF">2006-08-16T00:00:00Z</dcterms:created>
  <dcterms:modified xsi:type="dcterms:W3CDTF">2026-05-15T10:07:00Z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34E2404724784DBCAE427835B97C9240_13</vt:lpwstr>
  </property>
</Properties>
</file>